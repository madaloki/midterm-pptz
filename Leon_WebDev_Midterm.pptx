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91A1CF0-3577-42B8-EE63-0645BD4E9105}">
          <p14:sldIdLst>
            <p14:sldId id="256"/>
          </p14:sldIdLst>
        </p14:section>
        <p14:section name="How the Web Works" id="{756CFCF0-A5C9-4AA9-39E8-296A2AC310CE}">
          <p14:sldIdLst>
            <p14:sldId id="257"/>
          </p14:sldIdLst>
        </p14:section>
        <p14:section name="HTML" id="{2C086032-E9EC-D2FB-5834-EA62D2BFBBA9}">
          <p14:sldIdLst>
            <p14:sldId id="258"/>
          </p14:sldIdLst>
        </p14:section>
        <p14:section name="CSS" id="{9C8FFCAB-E3B9-F272-218D-52EF6BDEB75D}">
          <p14:sldIdLst>
            <p14:sldId id="259"/>
          </p14:sldIdLst>
        </p14:section>
        <p14:section name="JavaScript" id="{A3FB01FB-6A3F-837F-F791-1D9D143507D9}">
          <p14:sldIdLst>
            <p14:sldId id="260"/>
            <p14:sldId id="261"/>
          </p14:sldIdLst>
        </p14:section>
        <p14:section name="Why Hire Me" id="{E7E9F95F-85DF-1FD5-2208-D427EBB4C0F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7175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Hi everyone, my name is Michael Leon. I'm a Computing and Informatics student here at Rowan with a concentration in cybersecurity.
Today I'll show you what I learned in Intro to Web Development, and why a web development manager should hire me.
The big idea of this class is that every website has three layers. HTML is the structure. CSS is the style. JavaScript is the behavior. I'll start with how the web works, then go through each layer using my own labs and projects.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First, how the web works. The Internet is like the roads: the cables and routers. The Web is the websites that travel on those roads.
Every page has a URL, which is its full address. When you type a URL, DNS works like a phone book and turns the name into an IP address. Then the browser contacts the server, the server sends back the page, and the browser shows it.
My Lab 3 site is a static website. That means it's the same page for every visitor. A dynamic site, like one with logins, is built from a database.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HTML is the structure of a page. It's made of tags, and tags can have attributes that give extra information, like href on a link.
Every page has a head with info like the title, and a body, which is what you see. Lists use ul for bullets and ol for numbers.
For Lab 3, I built a five-page website for a made-up store called Garden Plant Co. Links connect the pages, a table shows store hours, and iframes add a YouTube video and a Google Map.
On the right is my sign-up form. Each label connects to its input, type="password" hides what you type, and the datalist gives suggestions.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CSS is the style. Every CSS rule has a selector, which picks what to style, then properties and values inside curly braces.
There are three ways to add CSS: inline, internal with a style tag, or an external file. I used an external file, so all five pages share one look.
Selectors pick an element like p, a class with a dot, or an id with a pound sign. Margin is the space outside an element, and padding is the space inside.
In my code, nav a:hover underlines links when the mouse is over them, and Flexbox puts two lists side by side. Media queries change the layout for phones.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JavaScript is the behavior. HTML and CSS can show a page, but they can't react to a click. JavaScript can.
We use const for values that stay the same and let for values that change. The DOM is the page as a tree, and getElementById finds one element in that tree. addEventListener waits for something like a click and then runs a function. We also learned that triple equals checks the value and the type.
Here's my Lab 3 code. When you click Create Account, it builds a customer object, adds it to an array, and prints the list to the console.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sec) For Project 3, I built Tic-Tac-Toe in five steps.
One, getElementById grabs the canvas, the status message, and the reset button. Two, addEventListener runs my handleClick function when you click the board. Three, the game is saved in an array called board with nine spots, one for each square. Four, after every move I loop through the eight winning lines: rows, columns, and diagonals. Five, I redraw the board on the canvas.
In Problem 1, two people take turns clicking. In Problem 2, the computer plays O. This code lists only the empty squares, then picks a random one, so the computer never plays on a taken square.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So why should you hire me?
First, I can build the whole front end. In a few weeks I went from basic tags to a five-page website, and then to a working game.
Second, I think about security. Password fields hide what you type, my outside links use rel="noopener" to keep my page safe, and my game checks that a move is allowed before it happens.
Third, I solve problems. I test my code, use the console to find bugs, and comment my code so a team can read it.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640080"/>
            <a:ext cx="5029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INTRO TO WEB DEVELOPMENT</a:t>
            </a:r>
            <a:endParaRPr lang="en-US" sz="1200" dirty="0"/>
          </a:p>
        </p:txBody>
      </p:sp>
      <p:sp>
        <p:nvSpPr>
          <p:cNvPr id="3" name="Text 1"/>
          <p:cNvSpPr txBox="1"/>
          <p:nvPr/>
        </p:nvSpPr>
        <p:spPr>
          <a:xfrm>
            <a:off x="457200" y="1005840"/>
            <a:ext cx="5029200" cy="822960"/>
          </a:xfrm>
          <a:prstGeom prst="rect">
            <a:avLst/>
          </a:prstGeom>
          <a:noFill/>
          <a:ln/>
        </p:spPr>
        <p:txBody>
          <a:bodyPr wrap="square" lIns="0" tIns="0" rIns="0" bIns="0" rtlCol="0" anchor="ctr"/>
          <a:lstStyle/>
          <a:p>
            <a:pPr marL="0" indent="0">
              <a:buNone/>
            </a:pPr>
            <a:r>
              <a:rPr lang="en-US" sz="4400" b="1" dirty="0">
                <a:solidFill>
                  <a:schemeClr val="bg1"/>
                </a:solidFill>
                <a:latin typeface="Arial" pitchFamily="34" charset="0"/>
                <a:ea typeface="Arial" pitchFamily="34" charset="-122"/>
                <a:cs typeface="Arial" pitchFamily="34" charset="-120"/>
              </a:rPr>
              <a:t>Michael Leon</a:t>
            </a:r>
            <a:endParaRPr lang="en-US" sz="4400" dirty="0"/>
          </a:p>
        </p:txBody>
      </p:sp>
      <p:sp>
        <p:nvSpPr>
          <p:cNvPr id="4" name="Text 2"/>
          <p:cNvSpPr txBox="1"/>
          <p:nvPr/>
        </p:nvSpPr>
        <p:spPr>
          <a:xfrm>
            <a:off x="457200" y="1828800"/>
            <a:ext cx="4754880" cy="731520"/>
          </a:xfrm>
          <a:prstGeom prst="rect">
            <a:avLst/>
          </a:prstGeom>
          <a:noFill/>
          <a:ln/>
        </p:spPr>
        <p:txBody>
          <a:bodyPr wrap="square" lIns="0" tIns="0" rIns="0" bIns="0" rtlCol="0" anchor="ctr"/>
          <a:lstStyle/>
          <a:p>
            <a:pPr marL="0" indent="0">
              <a:buNone/>
            </a:pPr>
            <a:r>
              <a:rPr lang="en-US" sz="1800" i="1" dirty="0">
                <a:solidFill>
                  <a:srgbClr val="CADCD4"/>
                </a:solidFill>
              </a:rPr>
              <a:t>What I learned in Intro to WebDev and why you should hire me</a:t>
            </a:r>
            <a:endParaRPr lang="en-US" sz="1800" dirty="0"/>
          </a:p>
        </p:txBody>
      </p:sp>
      <p:pic>
        <p:nvPicPr>
          <p:cNvPr id="5" name="Image 0" descr="preencoded.png"/>
          <p:cNvPicPr>
            <a:picLocks noChangeAspect="1"/>
          </p:cNvPicPr>
          <p:nvPr/>
        </p:nvPicPr>
        <p:blipFill>
          <a:blip r:embed="rId3"/>
          <a:stretch>
            <a:fillRect/>
          </a:stretch>
        </p:blipFill>
        <p:spPr>
          <a:xfrm>
            <a:off x="457200" y="2962656"/>
            <a:ext cx="256032" cy="256032"/>
          </a:xfrm>
          <a:prstGeom prst="rect">
            <a:avLst/>
          </a:prstGeom>
        </p:spPr>
      </p:pic>
      <p:sp>
        <p:nvSpPr>
          <p:cNvPr id="6" name="Text 3"/>
          <p:cNvSpPr txBox="1"/>
          <p:nvPr/>
        </p:nvSpPr>
        <p:spPr>
          <a:xfrm>
            <a:off x="868680" y="2926080"/>
            <a:ext cx="4572000" cy="329184"/>
          </a:xfrm>
          <a:prstGeom prst="rect">
            <a:avLst/>
          </a:prstGeom>
          <a:noFill/>
          <a:ln/>
        </p:spPr>
        <p:txBody>
          <a:bodyPr wrap="square" lIns="0" tIns="0" rIns="0" bIns="0" rtlCol="0" anchor="ctr"/>
          <a:lstStyle/>
          <a:p>
            <a:pPr marL="0" indent="0">
              <a:buNone/>
            </a:pPr>
            <a:r>
              <a:rPr lang="en-US" sz="1400" dirty="0">
                <a:solidFill>
                  <a:schemeClr val="bg1"/>
                </a:solidFill>
              </a:rPr>
              <a:t>Rowan University</a:t>
            </a:r>
            <a:endParaRPr lang="en-US" sz="1400" dirty="0"/>
          </a:p>
        </p:txBody>
      </p:sp>
      <p:sp>
        <p:nvSpPr>
          <p:cNvPr id="7" name="HTML card"/>
          <p:cNvSpPr/>
          <p:nvPr/>
        </p:nvSpPr>
        <p:spPr>
          <a:xfrm>
            <a:off x="5760720" y="914400"/>
            <a:ext cx="2926080" cy="960120"/>
          </a:xfrm>
          <a:prstGeom prst="roundRect">
            <a:avLst>
              <a:gd name="adj" fmla="val 11429"/>
            </a:avLst>
          </a:prstGeom>
          <a:solidFill>
            <a:schemeClr val="tx2"/>
          </a:solidFill>
          <a:ln w="12700">
            <a:solidFill>
              <a:schemeClr val="tx2"/>
            </a:solidFill>
            <a:prstDash val="solid"/>
          </a:ln>
        </p:spPr>
        <p:txBody>
          <a:bodyPr/>
          <a:lstStyle/>
          <a:p>
            <a:endParaRPr lang="en-US"/>
          </a:p>
        </p:txBody>
      </p:sp>
      <p:sp>
        <p:nvSpPr>
          <p:cNvPr id="8" name="Shape 5"/>
          <p:cNvSpPr/>
          <p:nvPr/>
        </p:nvSpPr>
        <p:spPr>
          <a:xfrm>
            <a:off x="5943600" y="1097280"/>
            <a:ext cx="594360" cy="594360"/>
          </a:xfrm>
          <a:prstGeom prst="ellipse">
            <a:avLst/>
          </a:prstGeom>
          <a:solidFill>
            <a:srgbClr val="E44D26"/>
          </a:solidFill>
          <a:ln w="12700">
            <a:solidFill>
              <a:srgbClr val="E44D26"/>
            </a:solidFill>
            <a:prstDash val="solid"/>
          </a:ln>
        </p:spPr>
        <p:txBody>
          <a:bodyPr/>
          <a:lstStyle/>
          <a:p>
            <a:endParaRPr lang="en-US"/>
          </a:p>
        </p:txBody>
      </p:sp>
      <p:sp>
        <p:nvSpPr>
          <p:cNvPr id="9" name="Text 6"/>
          <p:cNvSpPr txBox="1"/>
          <p:nvPr/>
        </p:nvSpPr>
        <p:spPr>
          <a:xfrm>
            <a:off x="5943600" y="1097280"/>
            <a:ext cx="594360" cy="594360"/>
          </a:xfrm>
          <a:prstGeom prst="rect">
            <a:avLst/>
          </a:prstGeom>
          <a:noFill/>
          <a:ln/>
        </p:spPr>
        <p:txBody>
          <a:bodyPr wrap="square" lIns="0" tIns="0" rIns="0" bIns="0" rtlCol="0" anchor="ctr"/>
          <a:lstStyle/>
          <a:p>
            <a:pPr marL="0" indent="0" algn="ctr">
              <a:buNone/>
            </a:pPr>
            <a:r>
              <a:rPr lang="en-US" sz="1300" b="1" dirty="0">
                <a:solidFill>
                  <a:schemeClr val="bg1"/>
                </a:solidFill>
              </a:rPr>
              <a:t>HTML</a:t>
            </a:r>
            <a:endParaRPr lang="en-US" sz="1300" dirty="0"/>
          </a:p>
        </p:txBody>
      </p:sp>
      <p:sp>
        <p:nvSpPr>
          <p:cNvPr id="10" name="Text 7"/>
          <p:cNvSpPr txBox="1"/>
          <p:nvPr/>
        </p:nvSpPr>
        <p:spPr>
          <a:xfrm>
            <a:off x="6720840" y="1051560"/>
            <a:ext cx="1874520" cy="685800"/>
          </a:xfrm>
          <a:prstGeom prst="rect">
            <a:avLst/>
          </a:prstGeom>
          <a:noFill/>
          <a:ln/>
        </p:spPr>
        <p:txBody>
          <a:bodyPr wrap="square" lIns="0" tIns="0" rIns="0" bIns="0" rtlCol="0" anchor="ctr"/>
          <a:lstStyle/>
          <a:p>
            <a:pPr marL="0" indent="0">
              <a:buNone/>
            </a:pPr>
            <a:r>
              <a:rPr lang="en-US" sz="1600" b="1" dirty="0">
                <a:solidFill>
                  <a:schemeClr val="bg1"/>
                </a:solidFill>
              </a:rPr>
              <a:t>Structure</a:t>
            </a:r>
            <a:endParaRPr lang="en-US" sz="1600" dirty="0"/>
          </a:p>
          <a:p>
            <a:pPr marL="0" indent="0">
              <a:buNone/>
            </a:pPr>
            <a:r>
              <a:rPr lang="en-US" sz="1200" dirty="0">
                <a:solidFill>
                  <a:srgbClr val="CADCD4"/>
                </a:solidFill>
              </a:rPr>
              <a:t>the content and layout</a:t>
            </a:r>
            <a:endParaRPr lang="en-US" sz="1600" dirty="0"/>
          </a:p>
        </p:txBody>
      </p:sp>
      <p:sp>
        <p:nvSpPr>
          <p:cNvPr id="11" name="CSS card"/>
          <p:cNvSpPr/>
          <p:nvPr/>
        </p:nvSpPr>
        <p:spPr>
          <a:xfrm>
            <a:off x="5760720" y="2057400"/>
            <a:ext cx="2926080" cy="960120"/>
          </a:xfrm>
          <a:prstGeom prst="roundRect">
            <a:avLst>
              <a:gd name="adj" fmla="val 11429"/>
            </a:avLst>
          </a:prstGeom>
          <a:solidFill>
            <a:schemeClr val="tx2"/>
          </a:solidFill>
          <a:ln w="12700">
            <a:solidFill>
              <a:schemeClr val="tx2"/>
            </a:solidFill>
            <a:prstDash val="solid"/>
          </a:ln>
        </p:spPr>
        <p:txBody>
          <a:bodyPr/>
          <a:lstStyle/>
          <a:p>
            <a:endParaRPr lang="en-US"/>
          </a:p>
        </p:txBody>
      </p:sp>
      <p:sp>
        <p:nvSpPr>
          <p:cNvPr id="12" name="Shape 9"/>
          <p:cNvSpPr/>
          <p:nvPr/>
        </p:nvSpPr>
        <p:spPr>
          <a:xfrm>
            <a:off x="5943600" y="2240280"/>
            <a:ext cx="594360" cy="594360"/>
          </a:xfrm>
          <a:prstGeom prst="ellipse">
            <a:avLst/>
          </a:prstGeom>
          <a:solidFill>
            <a:srgbClr val="2965F1"/>
          </a:solidFill>
          <a:ln w="12700">
            <a:solidFill>
              <a:srgbClr val="2965F1"/>
            </a:solidFill>
            <a:prstDash val="solid"/>
          </a:ln>
        </p:spPr>
        <p:txBody>
          <a:bodyPr/>
          <a:lstStyle/>
          <a:p>
            <a:endParaRPr lang="en-US"/>
          </a:p>
        </p:txBody>
      </p:sp>
      <p:sp>
        <p:nvSpPr>
          <p:cNvPr id="13" name="Text 10"/>
          <p:cNvSpPr txBox="1"/>
          <p:nvPr/>
        </p:nvSpPr>
        <p:spPr>
          <a:xfrm>
            <a:off x="5943600" y="2240280"/>
            <a:ext cx="594360" cy="594360"/>
          </a:xfrm>
          <a:prstGeom prst="rect">
            <a:avLst/>
          </a:prstGeom>
          <a:noFill/>
          <a:ln/>
        </p:spPr>
        <p:txBody>
          <a:bodyPr wrap="square" lIns="0" tIns="0" rIns="0" bIns="0" rtlCol="0" anchor="ctr"/>
          <a:lstStyle/>
          <a:p>
            <a:pPr marL="0" indent="0" algn="ctr">
              <a:buNone/>
            </a:pPr>
            <a:r>
              <a:rPr lang="en-US" sz="1300" b="1" dirty="0">
                <a:solidFill>
                  <a:schemeClr val="bg1"/>
                </a:solidFill>
              </a:rPr>
              <a:t>CSS</a:t>
            </a:r>
            <a:endParaRPr lang="en-US" sz="1300" dirty="0"/>
          </a:p>
        </p:txBody>
      </p:sp>
      <p:sp>
        <p:nvSpPr>
          <p:cNvPr id="14" name="Text 11"/>
          <p:cNvSpPr txBox="1"/>
          <p:nvPr/>
        </p:nvSpPr>
        <p:spPr>
          <a:xfrm>
            <a:off x="6720840" y="2194560"/>
            <a:ext cx="1874520" cy="685800"/>
          </a:xfrm>
          <a:prstGeom prst="rect">
            <a:avLst/>
          </a:prstGeom>
          <a:noFill/>
          <a:ln/>
        </p:spPr>
        <p:txBody>
          <a:bodyPr wrap="square" lIns="0" tIns="0" rIns="0" bIns="0" rtlCol="0" anchor="ctr"/>
          <a:lstStyle/>
          <a:p>
            <a:pPr marL="0" indent="0">
              <a:buNone/>
            </a:pPr>
            <a:r>
              <a:rPr lang="en-US" sz="1600" b="1" dirty="0">
                <a:solidFill>
                  <a:schemeClr val="bg1"/>
                </a:solidFill>
              </a:rPr>
              <a:t>Style</a:t>
            </a:r>
            <a:endParaRPr lang="en-US" sz="1600" dirty="0"/>
          </a:p>
          <a:p>
            <a:pPr marL="0" indent="0">
              <a:buNone/>
            </a:pPr>
            <a:r>
              <a:rPr lang="en-US" sz="1200" dirty="0">
                <a:solidFill>
                  <a:srgbClr val="CADCD4"/>
                </a:solidFill>
              </a:rPr>
              <a:t>colors, spacing, Flexbox</a:t>
            </a:r>
            <a:endParaRPr lang="en-US" sz="1600" dirty="0"/>
          </a:p>
        </p:txBody>
      </p:sp>
      <p:sp>
        <p:nvSpPr>
          <p:cNvPr id="15" name="JS card"/>
          <p:cNvSpPr/>
          <p:nvPr/>
        </p:nvSpPr>
        <p:spPr>
          <a:xfrm>
            <a:off x="5760720" y="3200400"/>
            <a:ext cx="2926080" cy="960120"/>
          </a:xfrm>
          <a:prstGeom prst="roundRect">
            <a:avLst>
              <a:gd name="adj" fmla="val 11429"/>
            </a:avLst>
          </a:prstGeom>
          <a:solidFill>
            <a:schemeClr val="tx2"/>
          </a:solidFill>
          <a:ln w="12700">
            <a:solidFill>
              <a:schemeClr val="tx2"/>
            </a:solidFill>
            <a:prstDash val="solid"/>
          </a:ln>
        </p:spPr>
        <p:txBody>
          <a:bodyPr/>
          <a:lstStyle/>
          <a:p>
            <a:endParaRPr lang="en-US"/>
          </a:p>
        </p:txBody>
      </p:sp>
      <p:sp>
        <p:nvSpPr>
          <p:cNvPr id="16" name="Shape 13"/>
          <p:cNvSpPr/>
          <p:nvPr/>
        </p:nvSpPr>
        <p:spPr>
          <a:xfrm>
            <a:off x="5943600" y="3383280"/>
            <a:ext cx="594360" cy="594360"/>
          </a:xfrm>
          <a:prstGeom prst="ellipse">
            <a:avLst/>
          </a:prstGeom>
          <a:solidFill>
            <a:srgbClr val="E8B400"/>
          </a:solidFill>
          <a:ln w="12700">
            <a:solidFill>
              <a:srgbClr val="E8B400"/>
            </a:solidFill>
            <a:prstDash val="solid"/>
          </a:ln>
        </p:spPr>
        <p:txBody>
          <a:bodyPr/>
          <a:lstStyle/>
          <a:p>
            <a:endParaRPr lang="en-US"/>
          </a:p>
        </p:txBody>
      </p:sp>
      <p:sp>
        <p:nvSpPr>
          <p:cNvPr id="17" name="Text 14"/>
          <p:cNvSpPr txBox="1"/>
          <p:nvPr/>
        </p:nvSpPr>
        <p:spPr>
          <a:xfrm>
            <a:off x="5943600" y="3383280"/>
            <a:ext cx="594360" cy="594360"/>
          </a:xfrm>
          <a:prstGeom prst="rect">
            <a:avLst/>
          </a:prstGeom>
          <a:noFill/>
          <a:ln/>
        </p:spPr>
        <p:txBody>
          <a:bodyPr wrap="square" lIns="0" tIns="0" rIns="0" bIns="0" rtlCol="0" anchor="ctr"/>
          <a:lstStyle/>
          <a:p>
            <a:pPr marL="0" indent="0" algn="ctr">
              <a:buNone/>
            </a:pPr>
            <a:r>
              <a:rPr lang="en-US" sz="1300" b="1" dirty="0">
                <a:solidFill>
                  <a:schemeClr val="tx1"/>
                </a:solidFill>
              </a:rPr>
              <a:t>JS</a:t>
            </a:r>
            <a:endParaRPr lang="en-US" sz="1300" dirty="0"/>
          </a:p>
        </p:txBody>
      </p:sp>
      <p:sp>
        <p:nvSpPr>
          <p:cNvPr id="18" name="Text 15"/>
          <p:cNvSpPr txBox="1"/>
          <p:nvPr/>
        </p:nvSpPr>
        <p:spPr>
          <a:xfrm>
            <a:off x="6720840" y="3337560"/>
            <a:ext cx="1874520" cy="685800"/>
          </a:xfrm>
          <a:prstGeom prst="rect">
            <a:avLst/>
          </a:prstGeom>
          <a:noFill/>
          <a:ln/>
        </p:spPr>
        <p:txBody>
          <a:bodyPr wrap="square" lIns="0" tIns="0" rIns="0" bIns="0" rtlCol="0" anchor="ctr"/>
          <a:lstStyle/>
          <a:p>
            <a:pPr marL="0" indent="0">
              <a:buNone/>
            </a:pPr>
            <a:r>
              <a:rPr lang="en-US" sz="1600" b="1" dirty="0">
                <a:solidFill>
                  <a:schemeClr val="bg1"/>
                </a:solidFill>
              </a:rPr>
              <a:t>Behavior</a:t>
            </a:r>
            <a:endParaRPr lang="en-US" sz="1600" dirty="0"/>
          </a:p>
          <a:p>
            <a:pPr marL="0" indent="0">
              <a:buNone/>
            </a:pPr>
            <a:r>
              <a:rPr lang="en-US" sz="1200" dirty="0">
                <a:solidFill>
                  <a:srgbClr val="CADCD4"/>
                </a:solidFill>
              </a:rPr>
              <a:t>clicks, logic, the DOM</a:t>
            </a:r>
            <a:endParaRPr lang="en-US" sz="1600" dirty="0"/>
          </a:p>
        </p:txBody>
      </p:sp>
      <p:sp>
        <p:nvSpPr>
          <p:cNvPr id="20"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br>
              <a:rPr lang="en-US" sz="3400" dirty="0"/>
            </a:br>
            <a:endParaRPr lang="en-US" sz="3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How the Web Works</a:t>
            </a:r>
            <a:endParaRPr lang="en-US" sz="3200" dirty="0"/>
          </a:p>
        </p:txBody>
      </p:sp>
      <p:sp>
        <p:nvSpPr>
          <p:cNvPr id="3" name="Shape 1"/>
          <p:cNvSpPr/>
          <p:nvPr/>
        </p:nvSpPr>
        <p:spPr>
          <a:xfrm>
            <a:off x="457200" y="1225296"/>
            <a:ext cx="118872" cy="118872"/>
          </a:xfrm>
          <a:prstGeom prst="ellipse">
            <a:avLst/>
          </a:prstGeom>
          <a:solidFill>
            <a:srgbClr val="04AA6D"/>
          </a:solidFill>
          <a:ln w="12700">
            <a:solidFill>
              <a:srgbClr val="04AA6D"/>
            </a:solidFill>
            <a:prstDash val="solid"/>
          </a:ln>
        </p:spPr>
        <p:txBody>
          <a:bodyPr/>
          <a:lstStyle/>
          <a:p>
            <a:endParaRPr lang="en-US"/>
          </a:p>
        </p:txBody>
      </p:sp>
      <p:sp>
        <p:nvSpPr>
          <p:cNvPr id="4" name="point 1"/>
          <p:cNvSpPr txBox="1"/>
          <p:nvPr/>
        </p:nvSpPr>
        <p:spPr>
          <a:xfrm>
            <a:off x="713232" y="1143000"/>
            <a:ext cx="3858768" cy="813816"/>
          </a:xfrm>
          <a:prstGeom prst="rect">
            <a:avLst/>
          </a:prstGeom>
          <a:noFill/>
          <a:ln/>
        </p:spPr>
        <p:txBody>
          <a:bodyPr wrap="square" lIns="0" tIns="0" rIns="0" bIns="0" rtlCol="0" anchor="t"/>
          <a:lstStyle/>
          <a:p>
            <a:pPr marL="0" indent="0">
              <a:buNone/>
            </a:pPr>
            <a:r>
              <a:rPr lang="en-US" sz="1400" b="1" dirty="0">
                <a:solidFill>
                  <a:schemeClr val="tx1"/>
                </a:solidFill>
              </a:rPr>
              <a:t>Internet vs. Web</a:t>
            </a:r>
            <a:endParaRPr lang="en-US" sz="1400" dirty="0"/>
          </a:p>
          <a:p>
            <a:pPr marL="0" indent="0">
              <a:buNone/>
            </a:pPr>
            <a:r>
              <a:rPr lang="en-US" sz="1250" dirty="0">
                <a:solidFill>
                  <a:schemeClr val="tx2"/>
                </a:solidFill>
              </a:rPr>
              <a:t>The Internet is the roads (cables, routers). The Web is the websites that travel on those roads.</a:t>
            </a:r>
            <a:endParaRPr lang="en-US" sz="1400" dirty="0"/>
          </a:p>
        </p:txBody>
      </p:sp>
      <p:sp>
        <p:nvSpPr>
          <p:cNvPr id="5" name="Shape 3"/>
          <p:cNvSpPr/>
          <p:nvPr/>
        </p:nvSpPr>
        <p:spPr>
          <a:xfrm>
            <a:off x="457200" y="2093976"/>
            <a:ext cx="118872" cy="118872"/>
          </a:xfrm>
          <a:prstGeom prst="ellipse">
            <a:avLst/>
          </a:prstGeom>
          <a:solidFill>
            <a:srgbClr val="04AA6D"/>
          </a:solidFill>
          <a:ln w="12700">
            <a:solidFill>
              <a:srgbClr val="04AA6D"/>
            </a:solidFill>
            <a:prstDash val="solid"/>
          </a:ln>
        </p:spPr>
        <p:txBody>
          <a:bodyPr/>
          <a:lstStyle/>
          <a:p>
            <a:endParaRPr lang="en-US"/>
          </a:p>
        </p:txBody>
      </p:sp>
      <p:sp>
        <p:nvSpPr>
          <p:cNvPr id="6" name="point 2"/>
          <p:cNvSpPr txBox="1"/>
          <p:nvPr/>
        </p:nvSpPr>
        <p:spPr>
          <a:xfrm>
            <a:off x="713232" y="2011680"/>
            <a:ext cx="3858768" cy="813816"/>
          </a:xfrm>
          <a:prstGeom prst="rect">
            <a:avLst/>
          </a:prstGeom>
          <a:noFill/>
          <a:ln/>
        </p:spPr>
        <p:txBody>
          <a:bodyPr wrap="square" lIns="0" tIns="0" rIns="0" bIns="0" rtlCol="0" anchor="t"/>
          <a:lstStyle/>
          <a:p>
            <a:pPr marL="0" indent="0">
              <a:buNone/>
            </a:pPr>
            <a:r>
              <a:rPr lang="en-US" sz="1400" b="1" dirty="0">
                <a:solidFill>
                  <a:schemeClr val="tx1"/>
                </a:solidFill>
              </a:rPr>
              <a:t>URL</a:t>
            </a:r>
            <a:endParaRPr lang="en-US" sz="1400" dirty="0"/>
          </a:p>
          <a:p>
            <a:pPr marL="0" indent="0">
              <a:buNone/>
            </a:pPr>
            <a:r>
              <a:rPr lang="en-US" sz="1250" dirty="0">
                <a:solidFill>
                  <a:schemeClr val="tx2"/>
                </a:solidFill>
              </a:rPr>
              <a:t>The full address of a page. It tells the browser where to go.</a:t>
            </a:r>
            <a:endParaRPr lang="en-US" sz="1400" dirty="0"/>
          </a:p>
        </p:txBody>
      </p:sp>
      <p:sp>
        <p:nvSpPr>
          <p:cNvPr id="7" name="Shape 5"/>
          <p:cNvSpPr/>
          <p:nvPr/>
        </p:nvSpPr>
        <p:spPr>
          <a:xfrm>
            <a:off x="457200" y="2962656"/>
            <a:ext cx="118872" cy="118872"/>
          </a:xfrm>
          <a:prstGeom prst="ellipse">
            <a:avLst/>
          </a:prstGeom>
          <a:solidFill>
            <a:srgbClr val="04AA6D"/>
          </a:solidFill>
          <a:ln w="12700">
            <a:solidFill>
              <a:srgbClr val="04AA6D"/>
            </a:solidFill>
            <a:prstDash val="solid"/>
          </a:ln>
        </p:spPr>
        <p:txBody>
          <a:bodyPr/>
          <a:lstStyle/>
          <a:p>
            <a:endParaRPr lang="en-US"/>
          </a:p>
        </p:txBody>
      </p:sp>
      <p:sp>
        <p:nvSpPr>
          <p:cNvPr id="8" name="point 3"/>
          <p:cNvSpPr txBox="1"/>
          <p:nvPr/>
        </p:nvSpPr>
        <p:spPr>
          <a:xfrm>
            <a:off x="713232" y="2880360"/>
            <a:ext cx="3858768" cy="813816"/>
          </a:xfrm>
          <a:prstGeom prst="rect">
            <a:avLst/>
          </a:prstGeom>
          <a:noFill/>
          <a:ln/>
        </p:spPr>
        <p:txBody>
          <a:bodyPr wrap="square" lIns="0" tIns="0" rIns="0" bIns="0" rtlCol="0" anchor="t"/>
          <a:lstStyle/>
          <a:p>
            <a:pPr marL="0" indent="0">
              <a:buNone/>
            </a:pPr>
            <a:r>
              <a:rPr lang="en-US" sz="1400" b="1" dirty="0">
                <a:solidFill>
                  <a:schemeClr val="tx1"/>
                </a:solidFill>
              </a:rPr>
              <a:t>DNS</a:t>
            </a:r>
            <a:endParaRPr lang="en-US" sz="1400" dirty="0"/>
          </a:p>
          <a:p>
            <a:pPr marL="0" indent="0">
              <a:buNone/>
            </a:pPr>
            <a:r>
              <a:rPr lang="en-US" sz="1250" dirty="0">
                <a:solidFill>
                  <a:schemeClr val="tx2"/>
                </a:solidFill>
              </a:rPr>
              <a:t>The Internet's phone book. It turns a name like google.com into an IP address.</a:t>
            </a:r>
            <a:endParaRPr lang="en-US" sz="1400" dirty="0"/>
          </a:p>
        </p:txBody>
      </p:sp>
      <p:sp>
        <p:nvSpPr>
          <p:cNvPr id="9" name="Shape 7"/>
          <p:cNvSpPr/>
          <p:nvPr/>
        </p:nvSpPr>
        <p:spPr>
          <a:xfrm>
            <a:off x="457200" y="3831336"/>
            <a:ext cx="118872" cy="118872"/>
          </a:xfrm>
          <a:prstGeom prst="ellipse">
            <a:avLst/>
          </a:prstGeom>
          <a:solidFill>
            <a:srgbClr val="04AA6D"/>
          </a:solidFill>
          <a:ln w="12700">
            <a:solidFill>
              <a:srgbClr val="04AA6D"/>
            </a:solidFill>
            <a:prstDash val="solid"/>
          </a:ln>
        </p:spPr>
        <p:txBody>
          <a:bodyPr/>
          <a:lstStyle/>
          <a:p>
            <a:endParaRPr lang="en-US"/>
          </a:p>
        </p:txBody>
      </p:sp>
      <p:sp>
        <p:nvSpPr>
          <p:cNvPr id="10" name="point 4"/>
          <p:cNvSpPr txBox="1"/>
          <p:nvPr/>
        </p:nvSpPr>
        <p:spPr>
          <a:xfrm>
            <a:off x="713232" y="3749040"/>
            <a:ext cx="3858768" cy="813816"/>
          </a:xfrm>
          <a:prstGeom prst="rect">
            <a:avLst/>
          </a:prstGeom>
          <a:noFill/>
          <a:ln/>
        </p:spPr>
        <p:txBody>
          <a:bodyPr wrap="square" lIns="0" tIns="0" rIns="0" bIns="0" rtlCol="0" anchor="t"/>
          <a:lstStyle/>
          <a:p>
            <a:pPr marL="0" indent="0">
              <a:buNone/>
            </a:pPr>
            <a:r>
              <a:rPr lang="en-US" sz="1400" b="1" dirty="0">
                <a:solidFill>
                  <a:schemeClr val="tx1"/>
                </a:solidFill>
              </a:rPr>
              <a:t>Static vs. dynamic</a:t>
            </a:r>
            <a:endParaRPr lang="en-US" sz="1400" dirty="0"/>
          </a:p>
          <a:p>
            <a:pPr marL="0" indent="0">
              <a:buNone/>
            </a:pPr>
            <a:r>
              <a:rPr lang="en-US" sz="1250" dirty="0">
                <a:solidFill>
                  <a:schemeClr val="tx2"/>
                </a:solidFill>
              </a:rPr>
              <a:t>Static: same page for everyone (my Lab 3 site). Dynamic: built from a database, like logins.</a:t>
            </a:r>
            <a:endParaRPr lang="en-US" sz="1400" dirty="0"/>
          </a:p>
        </p:txBody>
      </p:sp>
      <p:sp>
        <p:nvSpPr>
          <p:cNvPr id="11" name="url card"/>
          <p:cNvSpPr/>
          <p:nvPr/>
        </p:nvSpPr>
        <p:spPr>
          <a:xfrm>
            <a:off x="4846320" y="1143000"/>
            <a:ext cx="3840480" cy="3474720"/>
          </a:xfrm>
          <a:prstGeom prst="roundRect">
            <a:avLst>
              <a:gd name="adj" fmla="val 2632"/>
            </a:avLst>
          </a:prstGeom>
          <a:solidFill>
            <a:schemeClr val="bg2"/>
          </a:solidFill>
          <a:ln w="12700">
            <a:solidFill>
              <a:schemeClr val="bg2"/>
            </a:solidFill>
            <a:prstDash val="solid"/>
          </a:ln>
        </p:spPr>
        <p:txBody>
          <a:bodyPr/>
          <a:lstStyle/>
          <a:p>
            <a:endParaRPr lang="en-US"/>
          </a:p>
        </p:txBody>
      </p:sp>
      <p:sp>
        <p:nvSpPr>
          <p:cNvPr id="12" name="Text 10"/>
          <p:cNvSpPr txBox="1"/>
          <p:nvPr/>
        </p:nvSpPr>
        <p:spPr>
          <a:xfrm>
            <a:off x="5074920" y="1280160"/>
            <a:ext cx="3474720" cy="274320"/>
          </a:xfrm>
          <a:prstGeom prst="rect">
            <a:avLst/>
          </a:prstGeom>
          <a:noFill/>
          <a:ln/>
        </p:spPr>
        <p:txBody>
          <a:bodyPr wrap="square" lIns="0" tIns="0" rIns="0" bIns="0" rtlCol="0" anchor="ctr"/>
          <a:lstStyle/>
          <a:p>
            <a:pPr marL="0" indent="0">
              <a:buNone/>
            </a:pPr>
            <a:r>
              <a:rPr lang="en-US" sz="1400" b="1" dirty="0">
                <a:solidFill>
                  <a:schemeClr val="tx1"/>
                </a:solidFill>
              </a:rPr>
              <a:t>Parts of a URL</a:t>
            </a:r>
            <a:endParaRPr lang="en-US" sz="1400" dirty="0"/>
          </a:p>
        </p:txBody>
      </p:sp>
      <p:sp>
        <p:nvSpPr>
          <p:cNvPr id="13" name="Text 11"/>
          <p:cNvSpPr txBox="1"/>
          <p:nvPr/>
        </p:nvSpPr>
        <p:spPr>
          <a:xfrm>
            <a:off x="5074920" y="1600200"/>
            <a:ext cx="3474720" cy="274320"/>
          </a:xfrm>
          <a:prstGeom prst="rect">
            <a:avLst/>
          </a:prstGeom>
          <a:noFill/>
          <a:ln/>
        </p:spPr>
        <p:txBody>
          <a:bodyPr wrap="square" lIns="0" tIns="0" rIns="0" bIns="0" rtlCol="0" anchor="ctr"/>
          <a:lstStyle/>
          <a:p>
            <a:pPr marL="0" indent="0">
              <a:buNone/>
            </a:pPr>
            <a:r>
              <a:rPr lang="en-US" sz="1300" b="1" dirty="0">
                <a:solidFill>
                  <a:schemeClr val="accent5"/>
                </a:solidFill>
                <a:latin typeface="Courier New" pitchFamily="34" charset="0"/>
                <a:ea typeface="Courier New" pitchFamily="34" charset="-122"/>
                <a:cs typeface="Courier New" pitchFamily="34" charset="-120"/>
              </a:rPr>
              <a:t>https://www.example.com/products</a:t>
            </a:r>
            <a:endParaRPr lang="en-US" sz="1300" dirty="0"/>
          </a:p>
        </p:txBody>
      </p:sp>
      <p:sp>
        <p:nvSpPr>
          <p:cNvPr id="14" name="Text 12"/>
          <p:cNvSpPr txBox="1"/>
          <p:nvPr/>
        </p:nvSpPr>
        <p:spPr>
          <a:xfrm>
            <a:off x="5074920" y="1874520"/>
            <a:ext cx="3474720" cy="274320"/>
          </a:xfrm>
          <a:prstGeom prst="rect">
            <a:avLst/>
          </a:prstGeom>
          <a:noFill/>
          <a:ln/>
        </p:spPr>
        <p:txBody>
          <a:bodyPr wrap="square" lIns="0" tIns="0" rIns="0" bIns="0" rtlCol="0" anchor="ctr"/>
          <a:lstStyle/>
          <a:p>
            <a:pPr marL="0" indent="0">
              <a:buNone/>
            </a:pPr>
            <a:r>
              <a:rPr lang="en-US" sz="1200" dirty="0">
                <a:solidFill>
                  <a:schemeClr val="tx2"/>
                </a:solidFill>
              </a:rPr>
              <a:t>protocol · hostname · domain · TLD (.com) · path</a:t>
            </a:r>
            <a:endParaRPr lang="en-US" sz="1200" dirty="0"/>
          </a:p>
        </p:txBody>
      </p:sp>
      <p:sp>
        <p:nvSpPr>
          <p:cNvPr id="15" name="Text 13"/>
          <p:cNvSpPr txBox="1"/>
          <p:nvPr/>
        </p:nvSpPr>
        <p:spPr>
          <a:xfrm>
            <a:off x="5074920" y="2331720"/>
            <a:ext cx="3474720" cy="274320"/>
          </a:xfrm>
          <a:prstGeom prst="rect">
            <a:avLst/>
          </a:prstGeom>
          <a:noFill/>
          <a:ln/>
        </p:spPr>
        <p:txBody>
          <a:bodyPr wrap="square" lIns="0" tIns="0" rIns="0" bIns="0" rtlCol="0" anchor="ctr"/>
          <a:lstStyle/>
          <a:p>
            <a:pPr marL="0" indent="0">
              <a:buNone/>
            </a:pPr>
            <a:r>
              <a:rPr lang="en-US" sz="1400" b="1" dirty="0">
                <a:solidFill>
                  <a:schemeClr val="tx1"/>
                </a:solidFill>
              </a:rPr>
              <a:t>When you type a URL</a:t>
            </a:r>
            <a:endParaRPr lang="en-US" sz="1400" dirty="0"/>
          </a:p>
        </p:txBody>
      </p:sp>
      <p:sp>
        <p:nvSpPr>
          <p:cNvPr id="16" name="Text 14"/>
          <p:cNvSpPr txBox="1"/>
          <p:nvPr/>
        </p:nvSpPr>
        <p:spPr>
          <a:xfrm>
            <a:off x="5074920" y="2651760"/>
            <a:ext cx="3474720" cy="1828800"/>
          </a:xfrm>
          <a:prstGeom prst="rect">
            <a:avLst/>
          </a:prstGeom>
          <a:noFill/>
          <a:ln/>
        </p:spPr>
        <p:txBody>
          <a:bodyPr wrap="square" lIns="0" tIns="0" rIns="0" bIns="0" rtlCol="0" anchor="t"/>
          <a:lstStyle/>
          <a:p>
            <a:pPr marL="342900" indent="-342900">
              <a:spcAft>
                <a:spcPts val="400"/>
              </a:spcAft>
              <a:buSzPct val="100000"/>
              <a:buFont typeface="+mj-lt"/>
              <a:buAutoNum type="arabicPeriod"/>
            </a:pPr>
            <a:r>
              <a:rPr lang="en-US" sz="1300" dirty="0">
                <a:solidFill>
                  <a:schemeClr val="tx1"/>
                </a:solidFill>
              </a:rPr>
              <a:t>You type the URL in the browser</a:t>
            </a:r>
            <a:endParaRPr lang="en-US" sz="1300" dirty="0"/>
          </a:p>
          <a:p>
            <a:pPr marL="342900" indent="-342900">
              <a:spcAft>
                <a:spcPts val="400"/>
              </a:spcAft>
              <a:buSzPct val="100000"/>
              <a:buFont typeface="+mj-lt"/>
              <a:buAutoNum type="arabicPeriod"/>
            </a:pPr>
            <a:r>
              <a:rPr lang="en-US" sz="1300" dirty="0">
                <a:solidFill>
                  <a:schemeClr val="tx1"/>
                </a:solidFill>
              </a:rPr>
              <a:t>DNS finds the server's IP address</a:t>
            </a:r>
            <a:endParaRPr lang="en-US" sz="1300" dirty="0"/>
          </a:p>
          <a:p>
            <a:pPr marL="342900" indent="-342900">
              <a:spcAft>
                <a:spcPts val="400"/>
              </a:spcAft>
              <a:buSzPct val="100000"/>
              <a:buFont typeface="+mj-lt"/>
              <a:buAutoNum type="arabicPeriod"/>
            </a:pPr>
            <a:r>
              <a:rPr lang="en-US" sz="1300" dirty="0">
                <a:solidFill>
                  <a:schemeClr val="tx1"/>
                </a:solidFill>
              </a:rPr>
              <a:t>The browser contacts the server</a:t>
            </a:r>
            <a:endParaRPr lang="en-US" sz="1300" dirty="0"/>
          </a:p>
          <a:p>
            <a:pPr marL="342900" indent="-342900">
              <a:spcAft>
                <a:spcPts val="400"/>
              </a:spcAft>
              <a:buSzPct val="100000"/>
              <a:buFont typeface="+mj-lt"/>
              <a:buAutoNum type="arabicPeriod"/>
            </a:pPr>
            <a:r>
              <a:rPr lang="en-US" sz="1300" dirty="0">
                <a:solidFill>
                  <a:schemeClr val="tx1"/>
                </a:solidFill>
              </a:rPr>
              <a:t>The server sends back the page</a:t>
            </a:r>
            <a:endParaRPr lang="en-US" sz="1300" dirty="0"/>
          </a:p>
          <a:p>
            <a:pPr marL="342900" indent="-342900">
              <a:spcAft>
                <a:spcPts val="400"/>
              </a:spcAft>
              <a:buSzPct val="100000"/>
              <a:buFont typeface="+mj-lt"/>
              <a:buAutoNum type="arabicPeriod"/>
            </a:pPr>
            <a:r>
              <a:rPr lang="en-US" sz="1300" dirty="0">
                <a:solidFill>
                  <a:schemeClr val="tx1"/>
                </a:solidFill>
              </a:rPr>
              <a:t>The browser shows the page</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HTML: The Structure</a:t>
            </a:r>
            <a:endParaRPr lang="en-US" sz="3200" dirty="0"/>
          </a:p>
        </p:txBody>
      </p:sp>
      <p:sp>
        <p:nvSpPr>
          <p:cNvPr id="3" name="Shape 1"/>
          <p:cNvSpPr/>
          <p:nvPr/>
        </p:nvSpPr>
        <p:spPr>
          <a:xfrm>
            <a:off x="457200" y="1179576"/>
            <a:ext cx="118872" cy="118872"/>
          </a:xfrm>
          <a:prstGeom prst="ellipse">
            <a:avLst/>
          </a:prstGeom>
          <a:solidFill>
            <a:srgbClr val="E44D26"/>
          </a:solidFill>
          <a:ln w="12700">
            <a:solidFill>
              <a:srgbClr val="E44D26"/>
            </a:solidFill>
            <a:prstDash val="solid"/>
          </a:ln>
        </p:spPr>
        <p:txBody>
          <a:bodyPr/>
          <a:lstStyle/>
          <a:p>
            <a:endParaRPr lang="en-US"/>
          </a:p>
        </p:txBody>
      </p:sp>
      <p:sp>
        <p:nvSpPr>
          <p:cNvPr id="4" name="point 1"/>
          <p:cNvSpPr txBox="1"/>
          <p:nvPr/>
        </p:nvSpPr>
        <p:spPr>
          <a:xfrm>
            <a:off x="713232" y="1097280"/>
            <a:ext cx="3950208" cy="530352"/>
          </a:xfrm>
          <a:prstGeom prst="rect">
            <a:avLst/>
          </a:prstGeom>
          <a:noFill/>
          <a:ln/>
        </p:spPr>
        <p:txBody>
          <a:bodyPr wrap="square" lIns="0" tIns="0" rIns="0" bIns="0" rtlCol="0" anchor="t"/>
          <a:lstStyle/>
          <a:p>
            <a:pPr marL="0" indent="0">
              <a:buNone/>
            </a:pPr>
            <a:r>
              <a:rPr lang="en-US" sz="1400" b="1" dirty="0">
                <a:solidFill>
                  <a:schemeClr val="tx1"/>
                </a:solidFill>
              </a:rPr>
              <a:t>Tags, elements, attributes</a:t>
            </a:r>
            <a:endParaRPr lang="en-US" sz="1400" dirty="0"/>
          </a:p>
          <a:p>
            <a:pPr marL="0" indent="0">
              <a:buNone/>
            </a:pPr>
            <a:r>
              <a:rPr lang="en-US" sz="1250" dirty="0">
                <a:solidFill>
                  <a:schemeClr val="tx2"/>
                </a:solidFill>
              </a:rPr>
              <a:t>In &lt;a href&gt;, a is the tag and href is the attribute</a:t>
            </a:r>
            <a:endParaRPr lang="en-US" sz="1400" dirty="0"/>
          </a:p>
        </p:txBody>
      </p:sp>
      <p:sp>
        <p:nvSpPr>
          <p:cNvPr id="5" name="Shape 3"/>
          <p:cNvSpPr/>
          <p:nvPr/>
        </p:nvSpPr>
        <p:spPr>
          <a:xfrm>
            <a:off x="457200" y="1764792"/>
            <a:ext cx="118872" cy="118872"/>
          </a:xfrm>
          <a:prstGeom prst="ellipse">
            <a:avLst/>
          </a:prstGeom>
          <a:solidFill>
            <a:srgbClr val="E44D26"/>
          </a:solidFill>
          <a:ln w="12700">
            <a:solidFill>
              <a:srgbClr val="E44D26"/>
            </a:solidFill>
            <a:prstDash val="solid"/>
          </a:ln>
        </p:spPr>
        <p:txBody>
          <a:bodyPr/>
          <a:lstStyle/>
          <a:p>
            <a:endParaRPr lang="en-US"/>
          </a:p>
        </p:txBody>
      </p:sp>
      <p:sp>
        <p:nvSpPr>
          <p:cNvPr id="6" name="point 2"/>
          <p:cNvSpPr txBox="1"/>
          <p:nvPr/>
        </p:nvSpPr>
        <p:spPr>
          <a:xfrm>
            <a:off x="713232" y="1682496"/>
            <a:ext cx="3950208" cy="530352"/>
          </a:xfrm>
          <a:prstGeom prst="rect">
            <a:avLst/>
          </a:prstGeom>
          <a:noFill/>
          <a:ln/>
        </p:spPr>
        <p:txBody>
          <a:bodyPr wrap="square" lIns="0" tIns="0" rIns="0" bIns="0" rtlCol="0" anchor="t"/>
          <a:lstStyle/>
          <a:p>
            <a:pPr marL="0" indent="0">
              <a:buNone/>
            </a:pPr>
            <a:r>
              <a:rPr lang="en-US" sz="1400" b="1" dirty="0">
                <a:solidFill>
                  <a:schemeClr val="tx1"/>
                </a:solidFill>
              </a:rPr>
              <a:t>Page structure</a:t>
            </a:r>
            <a:endParaRPr lang="en-US" sz="1400" dirty="0"/>
          </a:p>
          <a:p>
            <a:pPr marL="0" indent="0">
              <a:buNone/>
            </a:pPr>
            <a:r>
              <a:rPr lang="en-US" sz="1250" dirty="0">
                <a:solidFill>
                  <a:schemeClr val="tx2"/>
                </a:solidFill>
              </a:rPr>
              <a:t>&lt;head&gt; holds info like the title. &lt;body&gt; is what you see.</a:t>
            </a:r>
            <a:endParaRPr lang="en-US" sz="1400" dirty="0"/>
          </a:p>
        </p:txBody>
      </p:sp>
      <p:sp>
        <p:nvSpPr>
          <p:cNvPr id="7" name="Shape 5"/>
          <p:cNvSpPr/>
          <p:nvPr/>
        </p:nvSpPr>
        <p:spPr>
          <a:xfrm>
            <a:off x="457200" y="2350008"/>
            <a:ext cx="118872" cy="118872"/>
          </a:xfrm>
          <a:prstGeom prst="ellipse">
            <a:avLst/>
          </a:prstGeom>
          <a:solidFill>
            <a:srgbClr val="E44D26"/>
          </a:solidFill>
          <a:ln w="12700">
            <a:solidFill>
              <a:srgbClr val="E44D26"/>
            </a:solidFill>
            <a:prstDash val="solid"/>
          </a:ln>
        </p:spPr>
        <p:txBody>
          <a:bodyPr/>
          <a:lstStyle/>
          <a:p>
            <a:endParaRPr lang="en-US"/>
          </a:p>
        </p:txBody>
      </p:sp>
      <p:sp>
        <p:nvSpPr>
          <p:cNvPr id="8" name="point 3"/>
          <p:cNvSpPr txBox="1"/>
          <p:nvPr/>
        </p:nvSpPr>
        <p:spPr>
          <a:xfrm>
            <a:off x="713232" y="2267712"/>
            <a:ext cx="3950208" cy="530352"/>
          </a:xfrm>
          <a:prstGeom prst="rect">
            <a:avLst/>
          </a:prstGeom>
          <a:noFill/>
          <a:ln/>
        </p:spPr>
        <p:txBody>
          <a:bodyPr wrap="square" lIns="0" tIns="0" rIns="0" bIns="0" rtlCol="0" anchor="t"/>
          <a:lstStyle/>
          <a:p>
            <a:pPr marL="0" indent="0">
              <a:buNone/>
            </a:pPr>
            <a:r>
              <a:rPr lang="en-US" sz="1400" b="1" dirty="0">
                <a:solidFill>
                  <a:schemeClr val="tx1"/>
                </a:solidFill>
              </a:rPr>
              <a:t>Lists</a:t>
            </a:r>
            <a:endParaRPr lang="en-US" sz="1400" dirty="0"/>
          </a:p>
          <a:p>
            <a:pPr marL="0" indent="0">
              <a:buNone/>
            </a:pPr>
            <a:r>
              <a:rPr lang="en-US" sz="1250" dirty="0">
                <a:solidFill>
                  <a:schemeClr val="tx2"/>
                </a:solidFill>
              </a:rPr>
              <a:t>&lt;ul&gt; makes bullets, &lt;ol&gt; makes numbers, &lt;li&gt; is each item</a:t>
            </a:r>
            <a:endParaRPr lang="en-US" sz="1400" dirty="0"/>
          </a:p>
        </p:txBody>
      </p:sp>
      <p:sp>
        <p:nvSpPr>
          <p:cNvPr id="9" name="Shape 7"/>
          <p:cNvSpPr/>
          <p:nvPr/>
        </p:nvSpPr>
        <p:spPr>
          <a:xfrm>
            <a:off x="457200" y="2935224"/>
            <a:ext cx="118872" cy="118872"/>
          </a:xfrm>
          <a:prstGeom prst="ellipse">
            <a:avLst/>
          </a:prstGeom>
          <a:solidFill>
            <a:srgbClr val="E44D26"/>
          </a:solidFill>
          <a:ln w="12700">
            <a:solidFill>
              <a:srgbClr val="E44D26"/>
            </a:solidFill>
            <a:prstDash val="solid"/>
          </a:ln>
        </p:spPr>
        <p:txBody>
          <a:bodyPr/>
          <a:lstStyle/>
          <a:p>
            <a:endParaRPr lang="en-US"/>
          </a:p>
        </p:txBody>
      </p:sp>
      <p:sp>
        <p:nvSpPr>
          <p:cNvPr id="10" name="point 4"/>
          <p:cNvSpPr txBox="1"/>
          <p:nvPr/>
        </p:nvSpPr>
        <p:spPr>
          <a:xfrm>
            <a:off x="713232" y="2852928"/>
            <a:ext cx="3950208" cy="530352"/>
          </a:xfrm>
          <a:prstGeom prst="rect">
            <a:avLst/>
          </a:prstGeom>
          <a:noFill/>
          <a:ln/>
        </p:spPr>
        <p:txBody>
          <a:bodyPr wrap="square" lIns="0" tIns="0" rIns="0" bIns="0" rtlCol="0" anchor="t"/>
          <a:lstStyle/>
          <a:p>
            <a:pPr marL="0" indent="0">
              <a:buNone/>
            </a:pPr>
            <a:r>
              <a:rPr lang="en-US" sz="1400" b="1" dirty="0">
                <a:solidFill>
                  <a:schemeClr val="tx1"/>
                </a:solidFill>
              </a:rPr>
              <a:t>Links and tables</a:t>
            </a:r>
            <a:endParaRPr lang="en-US" sz="1400" dirty="0"/>
          </a:p>
          <a:p>
            <a:pPr marL="0" indent="0">
              <a:buNone/>
            </a:pPr>
            <a:r>
              <a:rPr lang="en-US" sz="1250" dirty="0">
                <a:solidFill>
                  <a:schemeClr val="tx2"/>
                </a:solidFill>
              </a:rPr>
              <a:t>&lt;a href&gt; links my 5 pages. &lt;tr&gt; &lt;th&gt; &lt;td&gt; make tables.</a:t>
            </a:r>
            <a:endParaRPr lang="en-US" sz="1400" dirty="0"/>
          </a:p>
        </p:txBody>
      </p:sp>
      <p:sp>
        <p:nvSpPr>
          <p:cNvPr id="11" name="Shape 9"/>
          <p:cNvSpPr/>
          <p:nvPr/>
        </p:nvSpPr>
        <p:spPr>
          <a:xfrm>
            <a:off x="457200" y="3520440"/>
            <a:ext cx="118872" cy="118872"/>
          </a:xfrm>
          <a:prstGeom prst="ellipse">
            <a:avLst/>
          </a:prstGeom>
          <a:solidFill>
            <a:srgbClr val="E44D26"/>
          </a:solidFill>
          <a:ln w="12700">
            <a:solidFill>
              <a:srgbClr val="E44D26"/>
            </a:solidFill>
            <a:prstDash val="solid"/>
          </a:ln>
        </p:spPr>
        <p:txBody>
          <a:bodyPr/>
          <a:lstStyle/>
          <a:p>
            <a:endParaRPr lang="en-US"/>
          </a:p>
        </p:txBody>
      </p:sp>
      <p:sp>
        <p:nvSpPr>
          <p:cNvPr id="12" name="point 5"/>
          <p:cNvSpPr txBox="1"/>
          <p:nvPr/>
        </p:nvSpPr>
        <p:spPr>
          <a:xfrm>
            <a:off x="713232" y="3438144"/>
            <a:ext cx="3950208" cy="530352"/>
          </a:xfrm>
          <a:prstGeom prst="rect">
            <a:avLst/>
          </a:prstGeom>
          <a:noFill/>
          <a:ln/>
        </p:spPr>
        <p:txBody>
          <a:bodyPr wrap="square" lIns="0" tIns="0" rIns="0" bIns="0" rtlCol="0" anchor="t"/>
          <a:lstStyle/>
          <a:p>
            <a:pPr marL="0" indent="0">
              <a:buNone/>
            </a:pPr>
            <a:r>
              <a:rPr lang="en-US" sz="1400" b="1" dirty="0">
                <a:solidFill>
                  <a:schemeClr val="tx1"/>
                </a:solidFill>
              </a:rPr>
              <a:t>iframes</a:t>
            </a:r>
            <a:endParaRPr lang="en-US" sz="1400" dirty="0"/>
          </a:p>
          <a:p>
            <a:pPr marL="0" indent="0">
              <a:buNone/>
            </a:pPr>
            <a:r>
              <a:rPr lang="en-US" sz="1250" dirty="0">
                <a:solidFill>
                  <a:schemeClr val="tx2"/>
                </a:solidFill>
              </a:rPr>
              <a:t>Put a YouTube video and a Google Map inside my page</a:t>
            </a:r>
            <a:endParaRPr lang="en-US" sz="1400" dirty="0"/>
          </a:p>
        </p:txBody>
      </p:sp>
      <p:sp>
        <p:nvSpPr>
          <p:cNvPr id="13" name="Shape 11"/>
          <p:cNvSpPr/>
          <p:nvPr/>
        </p:nvSpPr>
        <p:spPr>
          <a:xfrm>
            <a:off x="457200" y="4105656"/>
            <a:ext cx="118872" cy="118872"/>
          </a:xfrm>
          <a:prstGeom prst="ellipse">
            <a:avLst/>
          </a:prstGeom>
          <a:solidFill>
            <a:srgbClr val="E44D26"/>
          </a:solidFill>
          <a:ln w="12700">
            <a:solidFill>
              <a:srgbClr val="E44D26"/>
            </a:solidFill>
            <a:prstDash val="solid"/>
          </a:ln>
        </p:spPr>
        <p:txBody>
          <a:bodyPr/>
          <a:lstStyle/>
          <a:p>
            <a:endParaRPr lang="en-US"/>
          </a:p>
        </p:txBody>
      </p:sp>
      <p:sp>
        <p:nvSpPr>
          <p:cNvPr id="14" name="point 6"/>
          <p:cNvSpPr txBox="1"/>
          <p:nvPr/>
        </p:nvSpPr>
        <p:spPr>
          <a:xfrm>
            <a:off x="713232" y="4023360"/>
            <a:ext cx="3950208" cy="530352"/>
          </a:xfrm>
          <a:prstGeom prst="rect">
            <a:avLst/>
          </a:prstGeom>
          <a:noFill/>
          <a:ln/>
        </p:spPr>
        <p:txBody>
          <a:bodyPr wrap="square" lIns="0" tIns="0" rIns="0" bIns="0" rtlCol="0" anchor="t"/>
          <a:lstStyle/>
          <a:p>
            <a:pPr marL="0" indent="0">
              <a:buNone/>
            </a:pPr>
            <a:r>
              <a:rPr lang="en-US" sz="1400" b="1" dirty="0">
                <a:solidFill>
                  <a:schemeClr val="tx1"/>
                </a:solidFill>
              </a:rPr>
              <a:t>Forms</a:t>
            </a:r>
            <a:endParaRPr lang="en-US" sz="1400" dirty="0"/>
          </a:p>
          <a:p>
            <a:pPr marL="0" indent="0">
              <a:buNone/>
            </a:pPr>
            <a:r>
              <a:rPr lang="en-US" sz="1250" dirty="0">
                <a:solidFill>
                  <a:schemeClr val="tx2"/>
                </a:solidFill>
              </a:rPr>
              <a:t>&lt;form&gt;, &lt;label&gt;, &lt;input&gt;, and &lt;datalist&gt; for suggestions</a:t>
            </a:r>
            <a:endParaRPr lang="en-US" sz="1400" dirty="0"/>
          </a:p>
        </p:txBody>
      </p:sp>
      <p:sp>
        <p:nvSpPr>
          <p:cNvPr id="15" name="html window"/>
          <p:cNvSpPr/>
          <p:nvPr/>
        </p:nvSpPr>
        <p:spPr>
          <a:xfrm>
            <a:off x="4846320" y="1097280"/>
            <a:ext cx="3840480" cy="3520440"/>
          </a:xfrm>
          <a:prstGeom prst="roundRect">
            <a:avLst>
              <a:gd name="adj" fmla="val 2597"/>
            </a:avLst>
          </a:prstGeom>
          <a:solidFill>
            <a:srgbClr val="1E1E2E"/>
          </a:solidFill>
          <a:ln w="12700">
            <a:solidFill>
              <a:srgbClr val="1E1E2E"/>
            </a:solidFill>
            <a:prstDash val="solid"/>
          </a:ln>
          <a:effectLst>
            <a:outerShdw blurRad="76200" dist="25400" dir="5400000" algn="bl" rotWithShape="0">
              <a:srgbClr val="000000">
                <a:alpha val="25000"/>
              </a:srgbClr>
            </a:outerShdw>
          </a:effectLst>
        </p:spPr>
        <p:txBody>
          <a:bodyPr/>
          <a:lstStyle/>
          <a:p>
            <a:endParaRPr lang="en-US"/>
          </a:p>
        </p:txBody>
      </p:sp>
      <p:sp>
        <p:nvSpPr>
          <p:cNvPr id="16" name="Shape 14"/>
          <p:cNvSpPr/>
          <p:nvPr/>
        </p:nvSpPr>
        <p:spPr>
          <a:xfrm>
            <a:off x="5029200" y="1234440"/>
            <a:ext cx="109728" cy="109728"/>
          </a:xfrm>
          <a:prstGeom prst="ellipse">
            <a:avLst/>
          </a:prstGeom>
          <a:solidFill>
            <a:srgbClr val="FF5F56"/>
          </a:solidFill>
          <a:ln w="12700">
            <a:solidFill>
              <a:srgbClr val="FF5F56"/>
            </a:solidFill>
            <a:prstDash val="solid"/>
          </a:ln>
        </p:spPr>
        <p:txBody>
          <a:bodyPr/>
          <a:lstStyle/>
          <a:p>
            <a:endParaRPr lang="en-US"/>
          </a:p>
        </p:txBody>
      </p:sp>
      <p:sp>
        <p:nvSpPr>
          <p:cNvPr id="17" name="Shape 15"/>
          <p:cNvSpPr/>
          <p:nvPr/>
        </p:nvSpPr>
        <p:spPr>
          <a:xfrm>
            <a:off x="5212080" y="1234440"/>
            <a:ext cx="109728" cy="109728"/>
          </a:xfrm>
          <a:prstGeom prst="ellipse">
            <a:avLst/>
          </a:prstGeom>
          <a:solidFill>
            <a:srgbClr val="FFBD2E"/>
          </a:solidFill>
          <a:ln w="12700">
            <a:solidFill>
              <a:srgbClr val="FFBD2E"/>
            </a:solidFill>
            <a:prstDash val="solid"/>
          </a:ln>
        </p:spPr>
        <p:txBody>
          <a:bodyPr/>
          <a:lstStyle/>
          <a:p>
            <a:endParaRPr lang="en-US"/>
          </a:p>
        </p:txBody>
      </p:sp>
      <p:sp>
        <p:nvSpPr>
          <p:cNvPr id="18" name="Shape 16"/>
          <p:cNvSpPr/>
          <p:nvPr/>
        </p:nvSpPr>
        <p:spPr>
          <a:xfrm>
            <a:off x="5394960" y="1234440"/>
            <a:ext cx="109728" cy="109728"/>
          </a:xfrm>
          <a:prstGeom prst="ellipse">
            <a:avLst/>
          </a:prstGeom>
          <a:solidFill>
            <a:srgbClr val="27C93F"/>
          </a:solidFill>
          <a:ln w="12700">
            <a:solidFill>
              <a:srgbClr val="27C93F"/>
            </a:solidFill>
            <a:prstDash val="solid"/>
          </a:ln>
        </p:spPr>
        <p:txBody>
          <a:bodyPr/>
          <a:lstStyle/>
          <a:p>
            <a:endParaRPr lang="en-US"/>
          </a:p>
        </p:txBody>
      </p:sp>
      <p:sp>
        <p:nvSpPr>
          <p:cNvPr id="19" name="Text 17"/>
          <p:cNvSpPr txBox="1"/>
          <p:nvPr/>
        </p:nvSpPr>
        <p:spPr>
          <a:xfrm>
            <a:off x="5623560" y="1161288"/>
            <a:ext cx="2926080" cy="256032"/>
          </a:xfrm>
          <a:prstGeom prst="rect">
            <a:avLst/>
          </a:prstGeom>
          <a:noFill/>
          <a:ln/>
        </p:spPr>
        <p:txBody>
          <a:bodyPr wrap="square" lIns="0" tIns="0" rIns="0" bIns="0" rtlCol="0" anchor="ctr"/>
          <a:lstStyle/>
          <a:p>
            <a:pPr marL="0" indent="0">
              <a:buNone/>
            </a:pPr>
            <a:r>
              <a:rPr lang="en-US" sz="1000" dirty="0">
                <a:solidFill>
                  <a:srgbClr val="A6ADC8"/>
                </a:solidFill>
                <a:latin typeface="Courier New" pitchFamily="34" charset="0"/>
                <a:ea typeface="Courier New" pitchFamily="34" charset="-122"/>
                <a:cs typeface="Courier New" pitchFamily="34" charset="-120"/>
              </a:rPr>
              <a:t>Lab 3: customer.html</a:t>
            </a:r>
            <a:endParaRPr lang="en-US" sz="1000" dirty="0"/>
          </a:p>
        </p:txBody>
      </p:sp>
      <p:sp>
        <p:nvSpPr>
          <p:cNvPr id="20" name="html code"/>
          <p:cNvSpPr txBox="1"/>
          <p:nvPr/>
        </p:nvSpPr>
        <p:spPr>
          <a:xfrm>
            <a:off x="5029200" y="1481328"/>
            <a:ext cx="3520440" cy="3017520"/>
          </a:xfrm>
          <a:prstGeom prst="rect">
            <a:avLst/>
          </a:prstGeom>
          <a:noFill/>
          <a:ln/>
        </p:spPr>
        <p:txBody>
          <a:bodyPr wrap="square" lIns="0" tIns="0" rIns="0" bIns="0" rtlCol="0" anchor="t"/>
          <a:lstStyle/>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&lt;form name="accountForm"&gt;</a:t>
            </a:r>
            <a:endParaRPr lang="en-US" sz="1250" dirty="0"/>
          </a:p>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  &lt;label for="email"&gt;</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Email Address&lt;/label&gt;</a:t>
            </a:r>
            <a:endParaRPr lang="en-US" sz="1250" dirty="0"/>
          </a:p>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  &lt;input type="email" id="email"&gt;</a:t>
            </a:r>
            <a:endParaRPr lang="en-US" sz="1250" dirty="0"/>
          </a:p>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  &lt;input type="password" id="pw"&gt;</a:t>
            </a:r>
            <a:endParaRPr lang="en-US" sz="1250" dirty="0"/>
          </a:p>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  &lt;input type="text"</a:t>
            </a:r>
            <a:endParaRPr lang="en-US" sz="1250" dirty="0"/>
          </a:p>
          <a:p>
            <a:pPr marL="0" indent="0">
              <a:spcAft>
                <a:spcPts val="200"/>
              </a:spcAft>
              <a:buNone/>
            </a:pPr>
            <a:r>
              <a:rPr lang="en-US" sz="1250" dirty="0">
                <a:solidFill>
                  <a:srgbClr val="FAB387"/>
                </a:solidFill>
                <a:latin typeface="Courier New" pitchFamily="34" charset="0"/>
                <a:ea typeface="Courier New" pitchFamily="34" charset="-122"/>
                <a:cs typeface="Courier New" pitchFamily="34" charset="-120"/>
              </a:rPr>
              <a:t>         id="favoriteplant"</a:t>
            </a:r>
            <a:endParaRPr lang="en-US" sz="1250" dirty="0"/>
          </a:p>
          <a:p>
            <a:pPr marL="0" indent="0">
              <a:spcAft>
                <a:spcPts val="200"/>
              </a:spcAft>
              <a:buNone/>
            </a:pPr>
            <a:r>
              <a:rPr lang="en-US" sz="1250" dirty="0">
                <a:solidFill>
                  <a:srgbClr val="FAB387"/>
                </a:solidFill>
                <a:latin typeface="Courier New" pitchFamily="34" charset="0"/>
                <a:ea typeface="Courier New" pitchFamily="34" charset="-122"/>
                <a:cs typeface="Courier New" pitchFamily="34" charset="-120"/>
              </a:rPr>
              <a:t>         list="plantlist"&gt;</a:t>
            </a:r>
            <a:endParaRPr lang="en-US" sz="1250" dirty="0"/>
          </a:p>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  &lt;datalist id="plantlist"&gt;</a:t>
            </a:r>
            <a:endParaRPr lang="en-US" sz="1250" dirty="0"/>
          </a:p>
          <a:p>
            <a:pPr marL="0" indent="0">
              <a:spcAft>
                <a:spcPts val="200"/>
              </a:spcAft>
              <a:buNone/>
            </a:pPr>
            <a:r>
              <a:rPr lang="en-US" sz="1250" dirty="0">
                <a:solidFill>
                  <a:srgbClr val="A6E3A1"/>
                </a:solidFill>
                <a:latin typeface="Courier New" pitchFamily="34" charset="0"/>
                <a:ea typeface="Courier New" pitchFamily="34" charset="-122"/>
                <a:cs typeface="Courier New" pitchFamily="34" charset="-120"/>
              </a:rPr>
              <a:t>    &lt;option value="Sunflower"&gt;</a:t>
            </a:r>
            <a:endParaRPr lang="en-US" sz="1250" dirty="0"/>
          </a:p>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  &lt;/datalist&gt;</a:t>
            </a:r>
            <a:endParaRPr lang="en-US" sz="1250" dirty="0"/>
          </a:p>
          <a:p>
            <a:pPr marL="0" indent="0">
              <a:spcAft>
                <a:spcPts val="200"/>
              </a:spcAft>
              <a:buNone/>
            </a:pPr>
            <a:r>
              <a:rPr lang="en-US" sz="1250" dirty="0">
                <a:solidFill>
                  <a:srgbClr val="F38BA8"/>
                </a:solidFill>
                <a:latin typeface="Courier New" pitchFamily="34" charset="0"/>
                <a:ea typeface="Courier New" pitchFamily="34" charset="-122"/>
                <a:cs typeface="Courier New" pitchFamily="34" charset="-120"/>
              </a:rPr>
              <a:t>&lt;/form&gt;</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CSS: The Style</a:t>
            </a:r>
            <a:endParaRPr lang="en-US" sz="3200" dirty="0"/>
          </a:p>
        </p:txBody>
      </p:sp>
      <p:sp>
        <p:nvSpPr>
          <p:cNvPr id="3" name="Shape 1"/>
          <p:cNvSpPr/>
          <p:nvPr/>
        </p:nvSpPr>
        <p:spPr>
          <a:xfrm>
            <a:off x="457200" y="1179576"/>
            <a:ext cx="118872" cy="118872"/>
          </a:xfrm>
          <a:prstGeom prst="ellipse">
            <a:avLst/>
          </a:prstGeom>
          <a:solidFill>
            <a:srgbClr val="2965F1"/>
          </a:solidFill>
          <a:ln w="12700">
            <a:solidFill>
              <a:srgbClr val="2965F1"/>
            </a:solidFill>
            <a:prstDash val="solid"/>
          </a:ln>
        </p:spPr>
        <p:txBody>
          <a:bodyPr/>
          <a:lstStyle/>
          <a:p>
            <a:endParaRPr lang="en-US"/>
          </a:p>
        </p:txBody>
      </p:sp>
      <p:sp>
        <p:nvSpPr>
          <p:cNvPr id="4" name="point 1"/>
          <p:cNvSpPr txBox="1"/>
          <p:nvPr/>
        </p:nvSpPr>
        <p:spPr>
          <a:xfrm>
            <a:off x="713232" y="1097280"/>
            <a:ext cx="3950208" cy="530352"/>
          </a:xfrm>
          <a:prstGeom prst="rect">
            <a:avLst/>
          </a:prstGeom>
          <a:noFill/>
          <a:ln/>
        </p:spPr>
        <p:txBody>
          <a:bodyPr wrap="square" lIns="0" tIns="0" rIns="0" bIns="0" rtlCol="0" anchor="t"/>
          <a:lstStyle/>
          <a:p>
            <a:pPr marL="0" indent="0">
              <a:buNone/>
            </a:pPr>
            <a:r>
              <a:rPr lang="en-US" sz="1400" b="1" dirty="0">
                <a:solidFill>
                  <a:schemeClr val="tx1"/>
                </a:solidFill>
              </a:rPr>
              <a:t>How a rule works</a:t>
            </a:r>
            <a:endParaRPr lang="en-US" sz="1400" dirty="0"/>
          </a:p>
          <a:p>
            <a:pPr marL="0" indent="0">
              <a:buNone/>
            </a:pPr>
            <a:r>
              <a:rPr lang="en-US" sz="1250" dirty="0">
                <a:solidFill>
                  <a:schemeClr val="tx2"/>
                </a:solidFill>
              </a:rPr>
              <a:t>selector { property: value; }</a:t>
            </a:r>
            <a:endParaRPr lang="en-US" sz="1400" dirty="0"/>
          </a:p>
        </p:txBody>
      </p:sp>
      <p:sp>
        <p:nvSpPr>
          <p:cNvPr id="5" name="Shape 3"/>
          <p:cNvSpPr/>
          <p:nvPr/>
        </p:nvSpPr>
        <p:spPr>
          <a:xfrm>
            <a:off x="457200" y="1764792"/>
            <a:ext cx="118872" cy="118872"/>
          </a:xfrm>
          <a:prstGeom prst="ellipse">
            <a:avLst/>
          </a:prstGeom>
          <a:solidFill>
            <a:srgbClr val="2965F1"/>
          </a:solidFill>
          <a:ln w="12700">
            <a:solidFill>
              <a:srgbClr val="2965F1"/>
            </a:solidFill>
            <a:prstDash val="solid"/>
          </a:ln>
        </p:spPr>
        <p:txBody>
          <a:bodyPr/>
          <a:lstStyle/>
          <a:p>
            <a:endParaRPr lang="en-US"/>
          </a:p>
        </p:txBody>
      </p:sp>
      <p:sp>
        <p:nvSpPr>
          <p:cNvPr id="6" name="point 2"/>
          <p:cNvSpPr txBox="1"/>
          <p:nvPr/>
        </p:nvSpPr>
        <p:spPr>
          <a:xfrm>
            <a:off x="713232" y="1682496"/>
            <a:ext cx="3950208" cy="530352"/>
          </a:xfrm>
          <a:prstGeom prst="rect">
            <a:avLst/>
          </a:prstGeom>
          <a:noFill/>
          <a:ln/>
        </p:spPr>
        <p:txBody>
          <a:bodyPr wrap="square" lIns="0" tIns="0" rIns="0" bIns="0" rtlCol="0" anchor="t"/>
          <a:lstStyle/>
          <a:p>
            <a:pPr marL="0" indent="0">
              <a:buNone/>
            </a:pPr>
            <a:r>
              <a:rPr lang="en-US" sz="1400" b="1" dirty="0">
                <a:solidFill>
                  <a:schemeClr val="tx1"/>
                </a:solidFill>
              </a:rPr>
              <a:t>3 ways to add CSS</a:t>
            </a:r>
            <a:endParaRPr lang="en-US" sz="1400" dirty="0"/>
          </a:p>
          <a:p>
            <a:pPr marL="0" indent="0">
              <a:buNone/>
            </a:pPr>
            <a:r>
              <a:rPr lang="en-US" sz="1250" dirty="0">
                <a:solidFill>
                  <a:schemeClr val="tx2"/>
                </a:solidFill>
              </a:rPr>
              <a:t>Inline, internal, or external file. I used external.</a:t>
            </a:r>
            <a:endParaRPr lang="en-US" sz="1400" dirty="0"/>
          </a:p>
        </p:txBody>
      </p:sp>
      <p:sp>
        <p:nvSpPr>
          <p:cNvPr id="7" name="Shape 5"/>
          <p:cNvSpPr/>
          <p:nvPr/>
        </p:nvSpPr>
        <p:spPr>
          <a:xfrm>
            <a:off x="457200" y="2350008"/>
            <a:ext cx="118872" cy="118872"/>
          </a:xfrm>
          <a:prstGeom prst="ellipse">
            <a:avLst/>
          </a:prstGeom>
          <a:solidFill>
            <a:srgbClr val="2965F1"/>
          </a:solidFill>
          <a:ln w="12700">
            <a:solidFill>
              <a:srgbClr val="2965F1"/>
            </a:solidFill>
            <a:prstDash val="solid"/>
          </a:ln>
        </p:spPr>
        <p:txBody>
          <a:bodyPr/>
          <a:lstStyle/>
          <a:p>
            <a:endParaRPr lang="en-US"/>
          </a:p>
        </p:txBody>
      </p:sp>
      <p:sp>
        <p:nvSpPr>
          <p:cNvPr id="8" name="point 3"/>
          <p:cNvSpPr txBox="1"/>
          <p:nvPr/>
        </p:nvSpPr>
        <p:spPr>
          <a:xfrm>
            <a:off x="713232" y="2267712"/>
            <a:ext cx="3950208" cy="530352"/>
          </a:xfrm>
          <a:prstGeom prst="rect">
            <a:avLst/>
          </a:prstGeom>
          <a:noFill/>
          <a:ln/>
        </p:spPr>
        <p:txBody>
          <a:bodyPr wrap="square" lIns="0" tIns="0" rIns="0" bIns="0" rtlCol="0" anchor="t"/>
          <a:lstStyle/>
          <a:p>
            <a:pPr marL="0" indent="0">
              <a:buNone/>
            </a:pPr>
            <a:r>
              <a:rPr lang="en-US" sz="1400" b="1" dirty="0">
                <a:solidFill>
                  <a:schemeClr val="tx1"/>
                </a:solidFill>
              </a:rPr>
              <a:t>Selectors</a:t>
            </a:r>
            <a:endParaRPr lang="en-US" sz="1400" dirty="0"/>
          </a:p>
          <a:p>
            <a:pPr marL="0" indent="0">
              <a:buNone/>
            </a:pPr>
            <a:r>
              <a:rPr lang="en-US" sz="1250" dirty="0">
                <a:solidFill>
                  <a:schemeClr val="tx2"/>
                </a:solidFill>
              </a:rPr>
              <a:t>Element (p), class (.name), id (#name), nav a</a:t>
            </a:r>
            <a:endParaRPr lang="en-US" sz="1400" dirty="0"/>
          </a:p>
        </p:txBody>
      </p:sp>
      <p:sp>
        <p:nvSpPr>
          <p:cNvPr id="9" name="Shape 7"/>
          <p:cNvSpPr/>
          <p:nvPr/>
        </p:nvSpPr>
        <p:spPr>
          <a:xfrm>
            <a:off x="457200" y="2935224"/>
            <a:ext cx="118872" cy="118872"/>
          </a:xfrm>
          <a:prstGeom prst="ellipse">
            <a:avLst/>
          </a:prstGeom>
          <a:solidFill>
            <a:srgbClr val="2965F1"/>
          </a:solidFill>
          <a:ln w="12700">
            <a:solidFill>
              <a:srgbClr val="2965F1"/>
            </a:solidFill>
            <a:prstDash val="solid"/>
          </a:ln>
        </p:spPr>
        <p:txBody>
          <a:bodyPr/>
          <a:lstStyle/>
          <a:p>
            <a:endParaRPr lang="en-US"/>
          </a:p>
        </p:txBody>
      </p:sp>
      <p:sp>
        <p:nvSpPr>
          <p:cNvPr id="10" name="point 4"/>
          <p:cNvSpPr txBox="1"/>
          <p:nvPr/>
        </p:nvSpPr>
        <p:spPr>
          <a:xfrm>
            <a:off x="713232" y="2852928"/>
            <a:ext cx="3950208" cy="530352"/>
          </a:xfrm>
          <a:prstGeom prst="rect">
            <a:avLst/>
          </a:prstGeom>
          <a:noFill/>
          <a:ln/>
        </p:spPr>
        <p:txBody>
          <a:bodyPr wrap="square" lIns="0" tIns="0" rIns="0" bIns="0" rtlCol="0" anchor="t"/>
          <a:lstStyle/>
          <a:p>
            <a:pPr marL="0" indent="0">
              <a:buNone/>
            </a:pPr>
            <a:r>
              <a:rPr lang="en-US" sz="1400" b="1" dirty="0">
                <a:solidFill>
                  <a:schemeClr val="tx1"/>
                </a:solidFill>
              </a:rPr>
              <a:t>Colors</a:t>
            </a:r>
            <a:endParaRPr lang="en-US" sz="1400" dirty="0"/>
          </a:p>
          <a:p>
            <a:pPr marL="0" indent="0">
              <a:buNone/>
            </a:pPr>
            <a:r>
              <a:rPr lang="en-US" sz="1250" dirty="0">
                <a:solidFill>
                  <a:schemeClr val="tx2"/>
                </a:solidFill>
              </a:rPr>
              <a:t>Names, rgb(), or hex (#333333). Use good contrast.</a:t>
            </a:r>
            <a:endParaRPr lang="en-US" sz="1400" dirty="0"/>
          </a:p>
        </p:txBody>
      </p:sp>
      <p:sp>
        <p:nvSpPr>
          <p:cNvPr id="11" name="Shape 9"/>
          <p:cNvSpPr/>
          <p:nvPr/>
        </p:nvSpPr>
        <p:spPr>
          <a:xfrm>
            <a:off x="457200" y="3520440"/>
            <a:ext cx="118872" cy="118872"/>
          </a:xfrm>
          <a:prstGeom prst="ellipse">
            <a:avLst/>
          </a:prstGeom>
          <a:solidFill>
            <a:srgbClr val="2965F1"/>
          </a:solidFill>
          <a:ln w="12700">
            <a:solidFill>
              <a:srgbClr val="2965F1"/>
            </a:solidFill>
            <a:prstDash val="solid"/>
          </a:ln>
        </p:spPr>
        <p:txBody>
          <a:bodyPr/>
          <a:lstStyle/>
          <a:p>
            <a:endParaRPr lang="en-US"/>
          </a:p>
        </p:txBody>
      </p:sp>
      <p:sp>
        <p:nvSpPr>
          <p:cNvPr id="12" name="point 5"/>
          <p:cNvSpPr txBox="1"/>
          <p:nvPr/>
        </p:nvSpPr>
        <p:spPr>
          <a:xfrm>
            <a:off x="713232" y="3438144"/>
            <a:ext cx="3950208" cy="530352"/>
          </a:xfrm>
          <a:prstGeom prst="rect">
            <a:avLst/>
          </a:prstGeom>
          <a:noFill/>
          <a:ln/>
        </p:spPr>
        <p:txBody>
          <a:bodyPr wrap="square" lIns="0" tIns="0" rIns="0" bIns="0" rtlCol="0" anchor="t"/>
          <a:lstStyle/>
          <a:p>
            <a:pPr marL="0" indent="0">
              <a:buNone/>
            </a:pPr>
            <a:r>
              <a:rPr lang="en-US" sz="1400" b="1" dirty="0">
                <a:solidFill>
                  <a:schemeClr val="tx1"/>
                </a:solidFill>
              </a:rPr>
              <a:t>Margin vs. padding</a:t>
            </a:r>
            <a:endParaRPr lang="en-US" sz="1400" dirty="0"/>
          </a:p>
          <a:p>
            <a:pPr marL="0" indent="0">
              <a:buNone/>
            </a:pPr>
            <a:r>
              <a:rPr lang="en-US" sz="1250" dirty="0">
                <a:solidFill>
                  <a:schemeClr val="tx2"/>
                </a:solidFill>
              </a:rPr>
              <a:t>Margin is space outside. Padding is space inside.</a:t>
            </a:r>
            <a:endParaRPr lang="en-US" sz="1400" dirty="0"/>
          </a:p>
        </p:txBody>
      </p:sp>
      <p:sp>
        <p:nvSpPr>
          <p:cNvPr id="13" name="Shape 11"/>
          <p:cNvSpPr/>
          <p:nvPr/>
        </p:nvSpPr>
        <p:spPr>
          <a:xfrm>
            <a:off x="457200" y="4105656"/>
            <a:ext cx="118872" cy="118872"/>
          </a:xfrm>
          <a:prstGeom prst="ellipse">
            <a:avLst/>
          </a:prstGeom>
          <a:solidFill>
            <a:srgbClr val="2965F1"/>
          </a:solidFill>
          <a:ln w="12700">
            <a:solidFill>
              <a:srgbClr val="2965F1"/>
            </a:solidFill>
            <a:prstDash val="solid"/>
          </a:ln>
        </p:spPr>
        <p:txBody>
          <a:bodyPr/>
          <a:lstStyle/>
          <a:p>
            <a:endParaRPr lang="en-US"/>
          </a:p>
        </p:txBody>
      </p:sp>
      <p:sp>
        <p:nvSpPr>
          <p:cNvPr id="14" name="point 6"/>
          <p:cNvSpPr txBox="1"/>
          <p:nvPr/>
        </p:nvSpPr>
        <p:spPr>
          <a:xfrm>
            <a:off x="713232" y="4023360"/>
            <a:ext cx="3950208" cy="530352"/>
          </a:xfrm>
          <a:prstGeom prst="rect">
            <a:avLst/>
          </a:prstGeom>
          <a:noFill/>
          <a:ln/>
        </p:spPr>
        <p:txBody>
          <a:bodyPr wrap="square" lIns="0" tIns="0" rIns="0" bIns="0" rtlCol="0" anchor="t"/>
          <a:lstStyle/>
          <a:p>
            <a:pPr marL="0" indent="0">
              <a:buNone/>
            </a:pPr>
            <a:r>
              <a:rPr lang="en-US" sz="1400" b="1" dirty="0">
                <a:solidFill>
                  <a:schemeClr val="tx1"/>
                </a:solidFill>
              </a:rPr>
              <a:t>Flexbox and phones</a:t>
            </a:r>
            <a:endParaRPr lang="en-US" sz="1400" dirty="0"/>
          </a:p>
          <a:p>
            <a:pPr marL="0" indent="0">
              <a:buNone/>
            </a:pPr>
            <a:r>
              <a:rPr lang="en-US" sz="1250" dirty="0">
                <a:solidFill>
                  <a:schemeClr val="tx2"/>
                </a:solidFill>
              </a:rPr>
              <a:t>flex puts boxes side by side. @media fits phones.</a:t>
            </a:r>
            <a:endParaRPr lang="en-US" sz="1400" dirty="0"/>
          </a:p>
        </p:txBody>
      </p:sp>
      <p:sp>
        <p:nvSpPr>
          <p:cNvPr id="15" name="css window"/>
          <p:cNvSpPr/>
          <p:nvPr/>
        </p:nvSpPr>
        <p:spPr>
          <a:xfrm>
            <a:off x="4846320" y="1097280"/>
            <a:ext cx="3840480" cy="3520440"/>
          </a:xfrm>
          <a:prstGeom prst="roundRect">
            <a:avLst>
              <a:gd name="adj" fmla="val 2597"/>
            </a:avLst>
          </a:prstGeom>
          <a:solidFill>
            <a:srgbClr val="1E1E2E"/>
          </a:solidFill>
          <a:ln w="12700">
            <a:solidFill>
              <a:srgbClr val="1E1E2E"/>
            </a:solidFill>
            <a:prstDash val="solid"/>
          </a:ln>
          <a:effectLst>
            <a:outerShdw blurRad="76200" dist="25400" dir="5400000" algn="bl" rotWithShape="0">
              <a:srgbClr val="000000">
                <a:alpha val="25000"/>
              </a:srgbClr>
            </a:outerShdw>
          </a:effectLst>
        </p:spPr>
        <p:txBody>
          <a:bodyPr/>
          <a:lstStyle/>
          <a:p>
            <a:endParaRPr lang="en-US"/>
          </a:p>
        </p:txBody>
      </p:sp>
      <p:sp>
        <p:nvSpPr>
          <p:cNvPr id="16" name="Shape 14"/>
          <p:cNvSpPr/>
          <p:nvPr/>
        </p:nvSpPr>
        <p:spPr>
          <a:xfrm>
            <a:off x="5029200" y="1234440"/>
            <a:ext cx="109728" cy="109728"/>
          </a:xfrm>
          <a:prstGeom prst="ellipse">
            <a:avLst/>
          </a:prstGeom>
          <a:solidFill>
            <a:srgbClr val="FF5F56"/>
          </a:solidFill>
          <a:ln w="12700">
            <a:solidFill>
              <a:srgbClr val="FF5F56"/>
            </a:solidFill>
            <a:prstDash val="solid"/>
          </a:ln>
        </p:spPr>
        <p:txBody>
          <a:bodyPr/>
          <a:lstStyle/>
          <a:p>
            <a:endParaRPr lang="en-US"/>
          </a:p>
        </p:txBody>
      </p:sp>
      <p:sp>
        <p:nvSpPr>
          <p:cNvPr id="17" name="Shape 15"/>
          <p:cNvSpPr/>
          <p:nvPr/>
        </p:nvSpPr>
        <p:spPr>
          <a:xfrm>
            <a:off x="5212080" y="1234440"/>
            <a:ext cx="109728" cy="109728"/>
          </a:xfrm>
          <a:prstGeom prst="ellipse">
            <a:avLst/>
          </a:prstGeom>
          <a:solidFill>
            <a:srgbClr val="FFBD2E"/>
          </a:solidFill>
          <a:ln w="12700">
            <a:solidFill>
              <a:srgbClr val="FFBD2E"/>
            </a:solidFill>
            <a:prstDash val="solid"/>
          </a:ln>
        </p:spPr>
        <p:txBody>
          <a:bodyPr/>
          <a:lstStyle/>
          <a:p>
            <a:endParaRPr lang="en-US"/>
          </a:p>
        </p:txBody>
      </p:sp>
      <p:sp>
        <p:nvSpPr>
          <p:cNvPr id="18" name="Shape 16"/>
          <p:cNvSpPr/>
          <p:nvPr/>
        </p:nvSpPr>
        <p:spPr>
          <a:xfrm>
            <a:off x="5394960" y="1234440"/>
            <a:ext cx="109728" cy="109728"/>
          </a:xfrm>
          <a:prstGeom prst="ellipse">
            <a:avLst/>
          </a:prstGeom>
          <a:solidFill>
            <a:srgbClr val="27C93F"/>
          </a:solidFill>
          <a:ln w="12700">
            <a:solidFill>
              <a:srgbClr val="27C93F"/>
            </a:solidFill>
            <a:prstDash val="solid"/>
          </a:ln>
        </p:spPr>
        <p:txBody>
          <a:bodyPr/>
          <a:lstStyle/>
          <a:p>
            <a:endParaRPr lang="en-US"/>
          </a:p>
        </p:txBody>
      </p:sp>
      <p:sp>
        <p:nvSpPr>
          <p:cNvPr id="19" name="Text 17"/>
          <p:cNvSpPr txBox="1"/>
          <p:nvPr/>
        </p:nvSpPr>
        <p:spPr>
          <a:xfrm>
            <a:off x="5623560" y="1161288"/>
            <a:ext cx="2926080" cy="256032"/>
          </a:xfrm>
          <a:prstGeom prst="rect">
            <a:avLst/>
          </a:prstGeom>
          <a:noFill/>
          <a:ln/>
        </p:spPr>
        <p:txBody>
          <a:bodyPr wrap="square" lIns="0" tIns="0" rIns="0" bIns="0" rtlCol="0" anchor="ctr"/>
          <a:lstStyle/>
          <a:p>
            <a:pPr marL="0" indent="0">
              <a:buNone/>
            </a:pPr>
            <a:r>
              <a:rPr lang="en-US" sz="1000" dirty="0">
                <a:solidFill>
                  <a:srgbClr val="A6ADC8"/>
                </a:solidFill>
                <a:latin typeface="Courier New" pitchFamily="34" charset="0"/>
                <a:ea typeface="Courier New" pitchFamily="34" charset="-122"/>
                <a:cs typeface="Courier New" pitchFamily="34" charset="-120"/>
              </a:rPr>
              <a:t>Lab 3: css/styles.css</a:t>
            </a:r>
            <a:endParaRPr lang="en-US" sz="1000" dirty="0"/>
          </a:p>
        </p:txBody>
      </p:sp>
      <p:sp>
        <p:nvSpPr>
          <p:cNvPr id="20" name="css code"/>
          <p:cNvSpPr txBox="1"/>
          <p:nvPr/>
        </p:nvSpPr>
        <p:spPr>
          <a:xfrm>
            <a:off x="5029200" y="1481328"/>
            <a:ext cx="3520440" cy="3017520"/>
          </a:xfrm>
          <a:prstGeom prst="rect">
            <a:avLst/>
          </a:prstGeom>
          <a:noFill/>
          <a:ln/>
        </p:spPr>
        <p:txBody>
          <a:bodyPr wrap="square" lIns="0" tIns="0" rIns="0" bIns="0" rtlCol="0" anchor="t"/>
          <a:lstStyle/>
          <a:p>
            <a:pPr marL="0" indent="0">
              <a:spcAft>
                <a:spcPts val="200"/>
              </a:spcAft>
              <a:buNone/>
            </a:pPr>
            <a:r>
              <a:rPr lang="en-US" sz="1250" dirty="0">
                <a:solidFill>
                  <a:srgbClr val="7F849C"/>
                </a:solidFill>
                <a:latin typeface="Courier New" pitchFamily="34" charset="0"/>
                <a:ea typeface="Courier New" pitchFamily="34" charset="-122"/>
                <a:cs typeface="Courier New" pitchFamily="34" charset="-120"/>
              </a:rPr>
              <a:t>/* selector { property: value; } */</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nav a:hover {</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text-decoration: underline;</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.flex-columns {</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display: flex;</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flex-wrap: wrap;</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gap: 24px;</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th {</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background: #04AA6D;</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color: #fff;</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JavaScript: The Behavior</a:t>
            </a:r>
            <a:endParaRPr lang="en-US" sz="3200" dirty="0"/>
          </a:p>
        </p:txBody>
      </p:sp>
      <p:sp>
        <p:nvSpPr>
          <p:cNvPr id="3" name="Shape 1"/>
          <p:cNvSpPr/>
          <p:nvPr/>
        </p:nvSpPr>
        <p:spPr>
          <a:xfrm>
            <a:off x="457200" y="1179576"/>
            <a:ext cx="118872" cy="118872"/>
          </a:xfrm>
          <a:prstGeom prst="ellipse">
            <a:avLst/>
          </a:prstGeom>
          <a:solidFill>
            <a:srgbClr val="E8B400"/>
          </a:solidFill>
          <a:ln w="12700">
            <a:solidFill>
              <a:srgbClr val="E8B400"/>
            </a:solidFill>
            <a:prstDash val="solid"/>
          </a:ln>
        </p:spPr>
        <p:txBody>
          <a:bodyPr/>
          <a:lstStyle/>
          <a:p>
            <a:endParaRPr lang="en-US"/>
          </a:p>
        </p:txBody>
      </p:sp>
      <p:sp>
        <p:nvSpPr>
          <p:cNvPr id="4" name="point 1"/>
          <p:cNvSpPr txBox="1"/>
          <p:nvPr/>
        </p:nvSpPr>
        <p:spPr>
          <a:xfrm>
            <a:off x="713232" y="1097280"/>
            <a:ext cx="3950208" cy="649224"/>
          </a:xfrm>
          <a:prstGeom prst="rect">
            <a:avLst/>
          </a:prstGeom>
          <a:noFill/>
          <a:ln/>
        </p:spPr>
        <p:txBody>
          <a:bodyPr wrap="square" lIns="0" tIns="0" rIns="0" bIns="0" rtlCol="0" anchor="t"/>
          <a:lstStyle/>
          <a:p>
            <a:pPr marL="0" indent="0">
              <a:buNone/>
            </a:pPr>
            <a:r>
              <a:rPr lang="en-US" sz="1400" b="1" dirty="0">
                <a:solidFill>
                  <a:schemeClr val="tx1"/>
                </a:solidFill>
              </a:rPr>
              <a:t>What JS does</a:t>
            </a:r>
            <a:endParaRPr lang="en-US" sz="1400" dirty="0"/>
          </a:p>
          <a:p>
            <a:pPr marL="0" indent="0">
              <a:buNone/>
            </a:pPr>
            <a:r>
              <a:rPr lang="en-US" sz="1250" dirty="0">
                <a:solidFill>
                  <a:schemeClr val="tx2"/>
                </a:solidFill>
              </a:rPr>
              <a:t>It makes the page react. It can change text, images, and styles after the page loads.</a:t>
            </a:r>
            <a:endParaRPr lang="en-US" sz="1400" dirty="0"/>
          </a:p>
        </p:txBody>
      </p:sp>
      <p:sp>
        <p:nvSpPr>
          <p:cNvPr id="5" name="Shape 3"/>
          <p:cNvSpPr/>
          <p:nvPr/>
        </p:nvSpPr>
        <p:spPr>
          <a:xfrm>
            <a:off x="457200" y="1883664"/>
            <a:ext cx="118872" cy="118872"/>
          </a:xfrm>
          <a:prstGeom prst="ellipse">
            <a:avLst/>
          </a:prstGeom>
          <a:solidFill>
            <a:srgbClr val="E8B400"/>
          </a:solidFill>
          <a:ln w="12700">
            <a:solidFill>
              <a:srgbClr val="E8B400"/>
            </a:solidFill>
            <a:prstDash val="solid"/>
          </a:ln>
        </p:spPr>
        <p:txBody>
          <a:bodyPr/>
          <a:lstStyle/>
          <a:p>
            <a:endParaRPr lang="en-US"/>
          </a:p>
        </p:txBody>
      </p:sp>
      <p:sp>
        <p:nvSpPr>
          <p:cNvPr id="6" name="point 2"/>
          <p:cNvSpPr txBox="1"/>
          <p:nvPr/>
        </p:nvSpPr>
        <p:spPr>
          <a:xfrm>
            <a:off x="713232" y="1801368"/>
            <a:ext cx="3950208" cy="649224"/>
          </a:xfrm>
          <a:prstGeom prst="rect">
            <a:avLst/>
          </a:prstGeom>
          <a:noFill/>
          <a:ln/>
        </p:spPr>
        <p:txBody>
          <a:bodyPr wrap="square" lIns="0" tIns="0" rIns="0" bIns="0" rtlCol="0" anchor="t"/>
          <a:lstStyle/>
          <a:p>
            <a:pPr marL="0" indent="0">
              <a:buNone/>
            </a:pPr>
            <a:r>
              <a:rPr lang="en-US" sz="1400" b="1" dirty="0">
                <a:solidFill>
                  <a:schemeClr val="tx1"/>
                </a:solidFill>
              </a:rPr>
              <a:t>Variables</a:t>
            </a:r>
            <a:endParaRPr lang="en-US" sz="1400" dirty="0"/>
          </a:p>
          <a:p>
            <a:pPr marL="0" indent="0">
              <a:buNone/>
            </a:pPr>
            <a:r>
              <a:rPr lang="en-US" sz="1250" dirty="0">
                <a:solidFill>
                  <a:schemeClr val="tx2"/>
                </a:solidFill>
              </a:rPr>
              <a:t>const for values that stay the same, let for values that change</a:t>
            </a:r>
            <a:endParaRPr lang="en-US" sz="1400" dirty="0"/>
          </a:p>
        </p:txBody>
      </p:sp>
      <p:sp>
        <p:nvSpPr>
          <p:cNvPr id="7" name="Shape 5"/>
          <p:cNvSpPr/>
          <p:nvPr/>
        </p:nvSpPr>
        <p:spPr>
          <a:xfrm>
            <a:off x="457200" y="2587752"/>
            <a:ext cx="118872" cy="118872"/>
          </a:xfrm>
          <a:prstGeom prst="ellipse">
            <a:avLst/>
          </a:prstGeom>
          <a:solidFill>
            <a:srgbClr val="E8B400"/>
          </a:solidFill>
          <a:ln w="12700">
            <a:solidFill>
              <a:srgbClr val="E8B400"/>
            </a:solidFill>
            <a:prstDash val="solid"/>
          </a:ln>
        </p:spPr>
        <p:txBody>
          <a:bodyPr/>
          <a:lstStyle/>
          <a:p>
            <a:endParaRPr lang="en-US"/>
          </a:p>
        </p:txBody>
      </p:sp>
      <p:sp>
        <p:nvSpPr>
          <p:cNvPr id="8" name="point 3"/>
          <p:cNvSpPr txBox="1"/>
          <p:nvPr/>
        </p:nvSpPr>
        <p:spPr>
          <a:xfrm>
            <a:off x="713232" y="2505456"/>
            <a:ext cx="3950208" cy="649224"/>
          </a:xfrm>
          <a:prstGeom prst="rect">
            <a:avLst/>
          </a:prstGeom>
          <a:noFill/>
          <a:ln/>
        </p:spPr>
        <p:txBody>
          <a:bodyPr wrap="square" lIns="0" tIns="0" rIns="0" bIns="0" rtlCol="0" anchor="t"/>
          <a:lstStyle/>
          <a:p>
            <a:pPr marL="0" indent="0">
              <a:buNone/>
            </a:pPr>
            <a:r>
              <a:rPr lang="en-US" sz="1400" b="1" dirty="0">
                <a:solidFill>
                  <a:schemeClr val="tx1"/>
                </a:solidFill>
              </a:rPr>
              <a:t>The DOM</a:t>
            </a:r>
            <a:endParaRPr lang="en-US" sz="1400" dirty="0"/>
          </a:p>
          <a:p>
            <a:pPr marL="0" indent="0">
              <a:buNone/>
            </a:pPr>
            <a:r>
              <a:rPr lang="en-US" sz="1250" dirty="0">
                <a:solidFill>
                  <a:schemeClr val="tx2"/>
                </a:solidFill>
              </a:rPr>
              <a:t>The page as a tree. getElementById() finds one element.</a:t>
            </a:r>
            <a:endParaRPr lang="en-US" sz="1400" dirty="0"/>
          </a:p>
        </p:txBody>
      </p:sp>
      <p:sp>
        <p:nvSpPr>
          <p:cNvPr id="9" name="Shape 7"/>
          <p:cNvSpPr/>
          <p:nvPr/>
        </p:nvSpPr>
        <p:spPr>
          <a:xfrm>
            <a:off x="457200" y="3291840"/>
            <a:ext cx="118872" cy="118872"/>
          </a:xfrm>
          <a:prstGeom prst="ellipse">
            <a:avLst/>
          </a:prstGeom>
          <a:solidFill>
            <a:srgbClr val="E8B400"/>
          </a:solidFill>
          <a:ln w="12700">
            <a:solidFill>
              <a:srgbClr val="E8B400"/>
            </a:solidFill>
            <a:prstDash val="solid"/>
          </a:ln>
        </p:spPr>
        <p:txBody>
          <a:bodyPr/>
          <a:lstStyle/>
          <a:p>
            <a:endParaRPr lang="en-US"/>
          </a:p>
        </p:txBody>
      </p:sp>
      <p:sp>
        <p:nvSpPr>
          <p:cNvPr id="10" name="point 4"/>
          <p:cNvSpPr txBox="1"/>
          <p:nvPr/>
        </p:nvSpPr>
        <p:spPr>
          <a:xfrm>
            <a:off x="713232" y="3209544"/>
            <a:ext cx="3950208" cy="649224"/>
          </a:xfrm>
          <a:prstGeom prst="rect">
            <a:avLst/>
          </a:prstGeom>
          <a:noFill/>
          <a:ln/>
        </p:spPr>
        <p:txBody>
          <a:bodyPr wrap="square" lIns="0" tIns="0" rIns="0" bIns="0" rtlCol="0" anchor="t"/>
          <a:lstStyle/>
          <a:p>
            <a:pPr marL="0" indent="0">
              <a:buNone/>
            </a:pPr>
            <a:r>
              <a:rPr lang="en-US" sz="1400" b="1" dirty="0">
                <a:solidFill>
                  <a:schemeClr val="tx1"/>
                </a:solidFill>
              </a:rPr>
              <a:t>Events</a:t>
            </a:r>
            <a:endParaRPr lang="en-US" sz="1400" dirty="0"/>
          </a:p>
          <a:p>
            <a:pPr marL="0" indent="0">
              <a:buNone/>
            </a:pPr>
            <a:r>
              <a:rPr lang="en-US" sz="1250" dirty="0">
                <a:solidFill>
                  <a:schemeClr val="tx2"/>
                </a:solidFill>
              </a:rPr>
              <a:t>addEventListener("click", ...) runs a function when you click</a:t>
            </a:r>
            <a:endParaRPr lang="en-US" sz="1400" dirty="0"/>
          </a:p>
        </p:txBody>
      </p:sp>
      <p:sp>
        <p:nvSpPr>
          <p:cNvPr id="11" name="Shape 9"/>
          <p:cNvSpPr/>
          <p:nvPr/>
        </p:nvSpPr>
        <p:spPr>
          <a:xfrm>
            <a:off x="457200" y="3995928"/>
            <a:ext cx="118872" cy="118872"/>
          </a:xfrm>
          <a:prstGeom prst="ellipse">
            <a:avLst/>
          </a:prstGeom>
          <a:solidFill>
            <a:srgbClr val="E8B400"/>
          </a:solidFill>
          <a:ln w="12700">
            <a:solidFill>
              <a:srgbClr val="E8B400"/>
            </a:solidFill>
            <a:prstDash val="solid"/>
          </a:ln>
        </p:spPr>
        <p:txBody>
          <a:bodyPr/>
          <a:lstStyle/>
          <a:p>
            <a:endParaRPr lang="en-US"/>
          </a:p>
        </p:txBody>
      </p:sp>
      <p:sp>
        <p:nvSpPr>
          <p:cNvPr id="12" name="point 5"/>
          <p:cNvSpPr txBox="1"/>
          <p:nvPr/>
        </p:nvSpPr>
        <p:spPr>
          <a:xfrm>
            <a:off x="713232" y="3913632"/>
            <a:ext cx="3950208" cy="649224"/>
          </a:xfrm>
          <a:prstGeom prst="rect">
            <a:avLst/>
          </a:prstGeom>
          <a:noFill/>
          <a:ln/>
        </p:spPr>
        <p:txBody>
          <a:bodyPr wrap="square" lIns="0" tIns="0" rIns="0" bIns="0" rtlCol="0" anchor="t"/>
          <a:lstStyle/>
          <a:p>
            <a:pPr marL="0" indent="0">
              <a:buNone/>
            </a:pPr>
            <a:r>
              <a:rPr lang="en-US" sz="1400" b="1" dirty="0">
                <a:solidFill>
                  <a:schemeClr val="tx1"/>
                </a:solidFill>
              </a:rPr>
              <a:t>== vs. ===</a:t>
            </a:r>
            <a:endParaRPr lang="en-US" sz="1400" dirty="0"/>
          </a:p>
          <a:p>
            <a:pPr marL="0" indent="0">
              <a:buNone/>
            </a:pPr>
            <a:r>
              <a:rPr lang="en-US" sz="1250" dirty="0">
                <a:solidFill>
                  <a:schemeClr val="tx2"/>
                </a:solidFill>
              </a:rPr>
              <a:t>=== checks value and type, so 5 === "5" is false</a:t>
            </a:r>
            <a:endParaRPr lang="en-US" sz="1400" dirty="0"/>
          </a:p>
        </p:txBody>
      </p:sp>
      <p:sp>
        <p:nvSpPr>
          <p:cNvPr id="13" name="js1 window"/>
          <p:cNvSpPr/>
          <p:nvPr/>
        </p:nvSpPr>
        <p:spPr>
          <a:xfrm>
            <a:off x="4846320" y="1097280"/>
            <a:ext cx="3840480" cy="3520440"/>
          </a:xfrm>
          <a:prstGeom prst="roundRect">
            <a:avLst>
              <a:gd name="adj" fmla="val 2597"/>
            </a:avLst>
          </a:prstGeom>
          <a:solidFill>
            <a:srgbClr val="1E1E2E"/>
          </a:solidFill>
          <a:ln w="12700">
            <a:solidFill>
              <a:srgbClr val="1E1E2E"/>
            </a:solidFill>
            <a:prstDash val="solid"/>
          </a:ln>
          <a:effectLst>
            <a:outerShdw blurRad="76200" dist="25400" dir="5400000" algn="bl" rotWithShape="0">
              <a:srgbClr val="000000">
                <a:alpha val="25000"/>
              </a:srgbClr>
            </a:outerShdw>
          </a:effectLst>
        </p:spPr>
        <p:txBody>
          <a:bodyPr/>
          <a:lstStyle/>
          <a:p>
            <a:endParaRPr lang="en-US"/>
          </a:p>
        </p:txBody>
      </p:sp>
      <p:sp>
        <p:nvSpPr>
          <p:cNvPr id="14" name="Shape 12"/>
          <p:cNvSpPr/>
          <p:nvPr/>
        </p:nvSpPr>
        <p:spPr>
          <a:xfrm>
            <a:off x="5029200" y="1234440"/>
            <a:ext cx="109728" cy="109728"/>
          </a:xfrm>
          <a:prstGeom prst="ellipse">
            <a:avLst/>
          </a:prstGeom>
          <a:solidFill>
            <a:srgbClr val="FF5F56"/>
          </a:solidFill>
          <a:ln w="12700">
            <a:solidFill>
              <a:srgbClr val="FF5F56"/>
            </a:solidFill>
            <a:prstDash val="solid"/>
          </a:ln>
        </p:spPr>
        <p:txBody>
          <a:bodyPr/>
          <a:lstStyle/>
          <a:p>
            <a:endParaRPr lang="en-US"/>
          </a:p>
        </p:txBody>
      </p:sp>
      <p:sp>
        <p:nvSpPr>
          <p:cNvPr id="15" name="Shape 13"/>
          <p:cNvSpPr/>
          <p:nvPr/>
        </p:nvSpPr>
        <p:spPr>
          <a:xfrm>
            <a:off x="5212080" y="1234440"/>
            <a:ext cx="109728" cy="109728"/>
          </a:xfrm>
          <a:prstGeom prst="ellipse">
            <a:avLst/>
          </a:prstGeom>
          <a:solidFill>
            <a:srgbClr val="FFBD2E"/>
          </a:solidFill>
          <a:ln w="12700">
            <a:solidFill>
              <a:srgbClr val="FFBD2E"/>
            </a:solidFill>
            <a:prstDash val="solid"/>
          </a:ln>
        </p:spPr>
        <p:txBody>
          <a:bodyPr/>
          <a:lstStyle/>
          <a:p>
            <a:endParaRPr lang="en-US"/>
          </a:p>
        </p:txBody>
      </p:sp>
      <p:sp>
        <p:nvSpPr>
          <p:cNvPr id="16" name="Shape 14"/>
          <p:cNvSpPr/>
          <p:nvPr/>
        </p:nvSpPr>
        <p:spPr>
          <a:xfrm>
            <a:off x="5394960" y="1234440"/>
            <a:ext cx="109728" cy="109728"/>
          </a:xfrm>
          <a:prstGeom prst="ellipse">
            <a:avLst/>
          </a:prstGeom>
          <a:solidFill>
            <a:srgbClr val="27C93F"/>
          </a:solidFill>
          <a:ln w="12700">
            <a:solidFill>
              <a:srgbClr val="27C93F"/>
            </a:solidFill>
            <a:prstDash val="solid"/>
          </a:ln>
        </p:spPr>
        <p:txBody>
          <a:bodyPr/>
          <a:lstStyle/>
          <a:p>
            <a:endParaRPr lang="en-US"/>
          </a:p>
        </p:txBody>
      </p:sp>
      <p:sp>
        <p:nvSpPr>
          <p:cNvPr id="17" name="Text 15"/>
          <p:cNvSpPr txBox="1"/>
          <p:nvPr/>
        </p:nvSpPr>
        <p:spPr>
          <a:xfrm>
            <a:off x="5623560" y="1161288"/>
            <a:ext cx="2926080" cy="256032"/>
          </a:xfrm>
          <a:prstGeom prst="rect">
            <a:avLst/>
          </a:prstGeom>
          <a:noFill/>
          <a:ln/>
        </p:spPr>
        <p:txBody>
          <a:bodyPr wrap="square" lIns="0" tIns="0" rIns="0" bIns="0" rtlCol="0" anchor="ctr"/>
          <a:lstStyle/>
          <a:p>
            <a:pPr marL="0" indent="0">
              <a:buNone/>
            </a:pPr>
            <a:r>
              <a:rPr lang="en-US" sz="1000" dirty="0">
                <a:solidFill>
                  <a:srgbClr val="A6ADC8"/>
                </a:solidFill>
                <a:latin typeface="Courier New" pitchFamily="34" charset="0"/>
                <a:ea typeface="Courier New" pitchFamily="34" charset="-122"/>
                <a:cs typeface="Courier New" pitchFamily="34" charset="-120"/>
              </a:rPr>
              <a:t>Lab 3: js/script.js</a:t>
            </a:r>
            <a:endParaRPr lang="en-US" sz="1000" dirty="0"/>
          </a:p>
        </p:txBody>
      </p:sp>
      <p:sp>
        <p:nvSpPr>
          <p:cNvPr id="18" name="js1 code"/>
          <p:cNvSpPr txBox="1"/>
          <p:nvPr/>
        </p:nvSpPr>
        <p:spPr>
          <a:xfrm>
            <a:off x="5029200" y="1481328"/>
            <a:ext cx="3520440" cy="3017520"/>
          </a:xfrm>
          <a:prstGeom prst="rect">
            <a:avLst/>
          </a:prstGeom>
          <a:noFill/>
          <a:ln/>
        </p:spPr>
        <p:txBody>
          <a:bodyPr wrap="square" lIns="0" tIns="0" rIns="0" bIns="0" rtlCol="0" anchor="t"/>
          <a:lstStyle/>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const customers = [];</a:t>
            </a:r>
            <a:endParaRPr lang="en-US" sz="1150" dirty="0"/>
          </a:p>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let nextId = 1;</a:t>
            </a:r>
            <a:endParaRPr lang="en-US" sz="1150" dirty="0"/>
          </a:p>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const submitButton =</a:t>
            </a:r>
            <a:endParaRPr lang="en-US" sz="1150" dirty="0"/>
          </a:p>
          <a:p>
            <a:pPr marL="0" indent="0">
              <a:spcAft>
                <a:spcPts val="200"/>
              </a:spcAft>
              <a:buNone/>
            </a:pPr>
            <a:r>
              <a:rPr lang="en-US" sz="1150" dirty="0">
                <a:solidFill>
                  <a:srgbClr val="A6E3A1"/>
                </a:solidFill>
                <a:latin typeface="Courier New" pitchFamily="34" charset="0"/>
                <a:ea typeface="Courier New" pitchFamily="34" charset="-122"/>
                <a:cs typeface="Courier New" pitchFamily="34" charset="-120"/>
              </a:rPr>
              <a:t>  document.getElementById("submitBtn");</a:t>
            </a:r>
            <a:endParaRPr lang="en-US" sz="1150" dirty="0"/>
          </a:p>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submitButton.addEventListener(</a:t>
            </a:r>
            <a:endParaRPr lang="en-US" sz="1150" dirty="0"/>
          </a:p>
          <a:p>
            <a:pPr marL="0" indent="0">
              <a:spcAft>
                <a:spcPts val="200"/>
              </a:spcAft>
              <a:buNone/>
            </a:pPr>
            <a:r>
              <a:rPr lang="en-US" sz="1150" dirty="0">
                <a:solidFill>
                  <a:srgbClr val="A6E3A1"/>
                </a:solidFill>
                <a:latin typeface="Courier New" pitchFamily="34" charset="0"/>
                <a:ea typeface="Courier New" pitchFamily="34" charset="-122"/>
                <a:cs typeface="Courier New" pitchFamily="34" charset="-120"/>
              </a:rPr>
              <a:t>  "click", addCustomer);</a:t>
            </a:r>
            <a:endParaRPr lang="en-US" sz="1150" dirty="0"/>
          </a:p>
          <a:p>
            <a:pPr marL="0" indent="0">
              <a:spcAft>
                <a:spcPts val="200"/>
              </a:spcAft>
              <a:buNone/>
            </a:pPr>
            <a:r>
              <a:rPr lang="en-US" sz="1150" dirty="0">
                <a:solidFill>
                  <a:srgbClr val="CBA6F7"/>
                </a:solidFill>
                <a:latin typeface="Courier New" pitchFamily="34" charset="0"/>
                <a:ea typeface="Courier New" pitchFamily="34" charset="-122"/>
                <a:cs typeface="Courier New" pitchFamily="34" charset="-120"/>
              </a:rPr>
              <a:t>function addCustomer() {</a:t>
            </a:r>
            <a:endParaRPr lang="en-US" sz="1150" dirty="0"/>
          </a:p>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  const customer = {id: nextId, ...};</a:t>
            </a:r>
            <a:endParaRPr lang="en-US" sz="1150" dirty="0"/>
          </a:p>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  nextId++;</a:t>
            </a:r>
            <a:endParaRPr lang="en-US" sz="1150" dirty="0"/>
          </a:p>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  customers.push(customer);</a:t>
            </a:r>
            <a:endParaRPr lang="en-US" sz="1150" dirty="0"/>
          </a:p>
          <a:p>
            <a:pPr marL="0" indent="0">
              <a:spcAft>
                <a:spcPts val="200"/>
              </a:spcAft>
              <a:buNone/>
            </a:pPr>
            <a:r>
              <a:rPr lang="en-US" sz="1150" dirty="0">
                <a:solidFill>
                  <a:srgbClr val="CDD6F4"/>
                </a:solidFill>
                <a:latin typeface="Courier New" pitchFamily="34" charset="0"/>
                <a:ea typeface="Courier New" pitchFamily="34" charset="-122"/>
                <a:cs typeface="Courier New" pitchFamily="34" charset="-120"/>
              </a:rPr>
              <a:t>  console.log(customers);</a:t>
            </a:r>
            <a:endParaRPr lang="en-US" sz="1150" dirty="0"/>
          </a:p>
          <a:p>
            <a:pPr marL="0" indent="0">
              <a:spcAft>
                <a:spcPts val="200"/>
              </a:spcAft>
              <a:buNone/>
            </a:pPr>
            <a:r>
              <a:rPr lang="en-US" sz="1150" dirty="0">
                <a:solidFill>
                  <a:srgbClr val="CBA6F7"/>
                </a:solidFill>
                <a:latin typeface="Courier New" pitchFamily="34" charset="0"/>
                <a:ea typeface="Courier New" pitchFamily="34" charset="-122"/>
                <a:cs typeface="Courier New" pitchFamily="34" charset="-120"/>
              </a:rPr>
              <a:t>}</a:t>
            </a:r>
            <a:endParaRPr lang="en-US" sz="11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Project 3: Tic-Tac-Toe</a:t>
            </a:r>
            <a:endParaRPr lang="en-US" sz="3200" dirty="0"/>
          </a:p>
        </p:txBody>
      </p:sp>
      <p:sp>
        <p:nvSpPr>
          <p:cNvPr id="3" name="Shape 1"/>
          <p:cNvSpPr/>
          <p:nvPr/>
        </p:nvSpPr>
        <p:spPr>
          <a:xfrm>
            <a:off x="457200" y="1152144"/>
            <a:ext cx="438912" cy="438912"/>
          </a:xfrm>
          <a:prstGeom prst="ellipse">
            <a:avLst/>
          </a:prstGeom>
          <a:solidFill>
            <a:schemeClr val="accent4"/>
          </a:solidFill>
          <a:ln w="12700">
            <a:solidFill>
              <a:schemeClr val="accent4"/>
            </a:solidFill>
            <a:prstDash val="solid"/>
          </a:ln>
        </p:spPr>
        <p:txBody>
          <a:bodyPr/>
          <a:lstStyle/>
          <a:p>
            <a:endParaRPr lang="en-US"/>
          </a:p>
        </p:txBody>
      </p:sp>
      <p:sp>
        <p:nvSpPr>
          <p:cNvPr id="4" name="Text 2"/>
          <p:cNvSpPr txBox="1"/>
          <p:nvPr/>
        </p:nvSpPr>
        <p:spPr>
          <a:xfrm>
            <a:off x="457200" y="1152144"/>
            <a:ext cx="438912" cy="438912"/>
          </a:xfrm>
          <a:prstGeom prst="rect">
            <a:avLst/>
          </a:prstGeom>
          <a:no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5" name="Text 3"/>
          <p:cNvSpPr txBox="1"/>
          <p:nvPr/>
        </p:nvSpPr>
        <p:spPr>
          <a:xfrm>
            <a:off x="1051560" y="1060704"/>
            <a:ext cx="3246120" cy="640080"/>
          </a:xfrm>
          <a:prstGeom prst="rect">
            <a:avLst/>
          </a:prstGeom>
          <a:noFill/>
          <a:ln/>
        </p:spPr>
        <p:txBody>
          <a:bodyPr wrap="square" lIns="0" tIns="0" rIns="0" bIns="0" rtlCol="0" anchor="ctr"/>
          <a:lstStyle/>
          <a:p>
            <a:pPr marL="0" indent="0">
              <a:buNone/>
            </a:pPr>
            <a:r>
              <a:rPr lang="en-US" sz="1500" b="1" dirty="0">
                <a:solidFill>
                  <a:schemeClr val="tx1"/>
                </a:solidFill>
              </a:rPr>
              <a:t>Grab elements</a:t>
            </a:r>
            <a:endParaRPr lang="en-US" sz="1500" dirty="0"/>
          </a:p>
          <a:p>
            <a:pPr marL="0" indent="0">
              <a:buNone/>
            </a:pPr>
            <a:r>
              <a:rPr lang="en-US" sz="1250" dirty="0">
                <a:solidFill>
                  <a:schemeClr val="tx2"/>
                </a:solidFill>
              </a:rPr>
              <a:t>getElementById() finds the canvas, status, and button</a:t>
            </a:r>
            <a:endParaRPr lang="en-US" sz="1500" dirty="0"/>
          </a:p>
        </p:txBody>
      </p:sp>
      <p:sp>
        <p:nvSpPr>
          <p:cNvPr id="6" name="Shape 4"/>
          <p:cNvSpPr/>
          <p:nvPr/>
        </p:nvSpPr>
        <p:spPr>
          <a:xfrm>
            <a:off x="457200" y="1865376"/>
            <a:ext cx="438912" cy="438912"/>
          </a:xfrm>
          <a:prstGeom prst="ellipse">
            <a:avLst/>
          </a:prstGeom>
          <a:solidFill>
            <a:schemeClr val="accent4"/>
          </a:solidFill>
          <a:ln w="12700">
            <a:solidFill>
              <a:schemeClr val="accent4"/>
            </a:solidFill>
            <a:prstDash val="solid"/>
          </a:ln>
        </p:spPr>
        <p:txBody>
          <a:bodyPr/>
          <a:lstStyle/>
          <a:p>
            <a:endParaRPr lang="en-US"/>
          </a:p>
        </p:txBody>
      </p:sp>
      <p:sp>
        <p:nvSpPr>
          <p:cNvPr id="7" name="Text 5"/>
          <p:cNvSpPr txBox="1"/>
          <p:nvPr/>
        </p:nvSpPr>
        <p:spPr>
          <a:xfrm>
            <a:off x="457200" y="1865376"/>
            <a:ext cx="438912" cy="438912"/>
          </a:xfrm>
          <a:prstGeom prst="rect">
            <a:avLst/>
          </a:prstGeom>
          <a:no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8" name="Text 6"/>
          <p:cNvSpPr txBox="1"/>
          <p:nvPr/>
        </p:nvSpPr>
        <p:spPr>
          <a:xfrm>
            <a:off x="1051560" y="1773936"/>
            <a:ext cx="3246120" cy="640080"/>
          </a:xfrm>
          <a:prstGeom prst="rect">
            <a:avLst/>
          </a:prstGeom>
          <a:noFill/>
          <a:ln/>
        </p:spPr>
        <p:txBody>
          <a:bodyPr wrap="square" lIns="0" tIns="0" rIns="0" bIns="0" rtlCol="0" anchor="ctr"/>
          <a:lstStyle/>
          <a:p>
            <a:pPr marL="0" indent="0">
              <a:buNone/>
            </a:pPr>
            <a:r>
              <a:rPr lang="en-US" sz="1500" b="1" dirty="0">
                <a:solidFill>
                  <a:schemeClr val="tx1"/>
                </a:solidFill>
              </a:rPr>
              <a:t>Listen for clicks</a:t>
            </a:r>
            <a:endParaRPr lang="en-US" sz="1500" dirty="0"/>
          </a:p>
          <a:p>
            <a:pPr marL="0" indent="0">
              <a:buNone/>
            </a:pPr>
            <a:r>
              <a:rPr lang="en-US" sz="1250" dirty="0">
                <a:solidFill>
                  <a:schemeClr val="tx2"/>
                </a:solidFill>
              </a:rPr>
              <a:t>addEventListener("click", handleClick)</a:t>
            </a:r>
            <a:endParaRPr lang="en-US" sz="1500" dirty="0"/>
          </a:p>
        </p:txBody>
      </p:sp>
      <p:sp>
        <p:nvSpPr>
          <p:cNvPr id="9" name="Shape 7"/>
          <p:cNvSpPr/>
          <p:nvPr/>
        </p:nvSpPr>
        <p:spPr>
          <a:xfrm>
            <a:off x="457200" y="2578608"/>
            <a:ext cx="438912" cy="438912"/>
          </a:xfrm>
          <a:prstGeom prst="ellipse">
            <a:avLst/>
          </a:prstGeom>
          <a:solidFill>
            <a:schemeClr val="accent4"/>
          </a:solidFill>
          <a:ln w="12700">
            <a:solidFill>
              <a:schemeClr val="accent4"/>
            </a:solidFill>
            <a:prstDash val="solid"/>
          </a:ln>
        </p:spPr>
        <p:txBody>
          <a:bodyPr/>
          <a:lstStyle/>
          <a:p>
            <a:endParaRPr lang="en-US"/>
          </a:p>
        </p:txBody>
      </p:sp>
      <p:sp>
        <p:nvSpPr>
          <p:cNvPr id="10" name="Text 8"/>
          <p:cNvSpPr txBox="1"/>
          <p:nvPr/>
        </p:nvSpPr>
        <p:spPr>
          <a:xfrm>
            <a:off x="457200" y="2578608"/>
            <a:ext cx="438912" cy="438912"/>
          </a:xfrm>
          <a:prstGeom prst="rect">
            <a:avLst/>
          </a:prstGeom>
          <a:no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1" name="Text 9"/>
          <p:cNvSpPr txBox="1"/>
          <p:nvPr/>
        </p:nvSpPr>
        <p:spPr>
          <a:xfrm>
            <a:off x="1051560" y="2487168"/>
            <a:ext cx="3246120" cy="640080"/>
          </a:xfrm>
          <a:prstGeom prst="rect">
            <a:avLst/>
          </a:prstGeom>
          <a:noFill/>
          <a:ln/>
        </p:spPr>
        <p:txBody>
          <a:bodyPr wrap="square" lIns="0" tIns="0" rIns="0" bIns="0" rtlCol="0" anchor="ctr"/>
          <a:lstStyle/>
          <a:p>
            <a:pPr marL="0" indent="0">
              <a:buNone/>
            </a:pPr>
            <a:r>
              <a:rPr lang="en-US" sz="1500" b="1" dirty="0">
                <a:solidFill>
                  <a:schemeClr val="tx1"/>
                </a:solidFill>
              </a:rPr>
              <a:t>Store the game</a:t>
            </a:r>
            <a:endParaRPr lang="en-US" sz="1500" dirty="0"/>
          </a:p>
          <a:p>
            <a:pPr marL="0" indent="0">
              <a:buNone/>
            </a:pPr>
            <a:r>
              <a:rPr lang="en-US" sz="1250" dirty="0">
                <a:solidFill>
                  <a:schemeClr val="tx2"/>
                </a:solidFill>
              </a:rPr>
              <a:t>A board array with 9 spots: "", "X", or "O"</a:t>
            </a:r>
            <a:endParaRPr lang="en-US" sz="1500" dirty="0"/>
          </a:p>
        </p:txBody>
      </p:sp>
      <p:sp>
        <p:nvSpPr>
          <p:cNvPr id="12" name="Shape 10"/>
          <p:cNvSpPr/>
          <p:nvPr/>
        </p:nvSpPr>
        <p:spPr>
          <a:xfrm>
            <a:off x="457200" y="3291840"/>
            <a:ext cx="438912" cy="438912"/>
          </a:xfrm>
          <a:prstGeom prst="ellipse">
            <a:avLst/>
          </a:prstGeom>
          <a:solidFill>
            <a:schemeClr val="accent4"/>
          </a:solidFill>
          <a:ln w="12700">
            <a:solidFill>
              <a:schemeClr val="accent4"/>
            </a:solidFill>
            <a:prstDash val="solid"/>
          </a:ln>
        </p:spPr>
        <p:txBody>
          <a:bodyPr/>
          <a:lstStyle/>
          <a:p>
            <a:endParaRPr lang="en-US"/>
          </a:p>
        </p:txBody>
      </p:sp>
      <p:sp>
        <p:nvSpPr>
          <p:cNvPr id="13" name="Text 11"/>
          <p:cNvSpPr txBox="1"/>
          <p:nvPr/>
        </p:nvSpPr>
        <p:spPr>
          <a:xfrm>
            <a:off x="457200" y="3291840"/>
            <a:ext cx="438912" cy="438912"/>
          </a:xfrm>
          <a:prstGeom prst="rect">
            <a:avLst/>
          </a:prstGeom>
          <a:no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4" name="Text 12"/>
          <p:cNvSpPr txBox="1"/>
          <p:nvPr/>
        </p:nvSpPr>
        <p:spPr>
          <a:xfrm>
            <a:off x="1051560" y="3200400"/>
            <a:ext cx="3246120" cy="640080"/>
          </a:xfrm>
          <a:prstGeom prst="rect">
            <a:avLst/>
          </a:prstGeom>
          <a:noFill/>
          <a:ln/>
        </p:spPr>
        <p:txBody>
          <a:bodyPr wrap="square" lIns="0" tIns="0" rIns="0" bIns="0" rtlCol="0" anchor="ctr"/>
          <a:lstStyle/>
          <a:p>
            <a:pPr marL="0" indent="0">
              <a:buNone/>
            </a:pPr>
            <a:r>
              <a:rPr lang="en-US" sz="1500" b="1" dirty="0">
                <a:solidFill>
                  <a:schemeClr val="tx1"/>
                </a:solidFill>
              </a:rPr>
              <a:t>Check for a win</a:t>
            </a:r>
            <a:endParaRPr lang="en-US" sz="1500" dirty="0"/>
          </a:p>
          <a:p>
            <a:pPr marL="0" indent="0">
              <a:buNone/>
            </a:pPr>
            <a:r>
              <a:rPr lang="en-US" sz="1250" dirty="0">
                <a:solidFill>
                  <a:schemeClr val="tx2"/>
                </a:solidFill>
              </a:rPr>
              <a:t>Loop through the 8 winning lines, or find a tie</a:t>
            </a:r>
            <a:endParaRPr lang="en-US" sz="1500" dirty="0"/>
          </a:p>
        </p:txBody>
      </p:sp>
      <p:sp>
        <p:nvSpPr>
          <p:cNvPr id="15" name="Shape 13"/>
          <p:cNvSpPr/>
          <p:nvPr/>
        </p:nvSpPr>
        <p:spPr>
          <a:xfrm>
            <a:off x="457200" y="4005072"/>
            <a:ext cx="438912" cy="438912"/>
          </a:xfrm>
          <a:prstGeom prst="ellipse">
            <a:avLst/>
          </a:prstGeom>
          <a:solidFill>
            <a:schemeClr val="accent4"/>
          </a:solidFill>
          <a:ln w="12700">
            <a:solidFill>
              <a:schemeClr val="accent4"/>
            </a:solidFill>
            <a:prstDash val="solid"/>
          </a:ln>
        </p:spPr>
        <p:txBody>
          <a:bodyPr/>
          <a:lstStyle/>
          <a:p>
            <a:endParaRPr lang="en-US"/>
          </a:p>
        </p:txBody>
      </p:sp>
      <p:sp>
        <p:nvSpPr>
          <p:cNvPr id="16" name="Text 14"/>
          <p:cNvSpPr txBox="1"/>
          <p:nvPr/>
        </p:nvSpPr>
        <p:spPr>
          <a:xfrm>
            <a:off x="457200" y="4005072"/>
            <a:ext cx="438912" cy="438912"/>
          </a:xfrm>
          <a:prstGeom prst="rect">
            <a:avLst/>
          </a:prstGeom>
          <a:no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17" name="Text 15"/>
          <p:cNvSpPr txBox="1"/>
          <p:nvPr/>
        </p:nvSpPr>
        <p:spPr>
          <a:xfrm>
            <a:off x="1051560" y="3913632"/>
            <a:ext cx="3246120" cy="640080"/>
          </a:xfrm>
          <a:prstGeom prst="rect">
            <a:avLst/>
          </a:prstGeom>
          <a:noFill/>
          <a:ln/>
        </p:spPr>
        <p:txBody>
          <a:bodyPr wrap="square" lIns="0" tIns="0" rIns="0" bIns="0" rtlCol="0" anchor="ctr"/>
          <a:lstStyle/>
          <a:p>
            <a:pPr marL="0" indent="0">
              <a:buNone/>
            </a:pPr>
            <a:r>
              <a:rPr lang="en-US" sz="1500" b="1" dirty="0">
                <a:solidFill>
                  <a:schemeClr val="tx1"/>
                </a:solidFill>
              </a:rPr>
              <a:t>Redraw</a:t>
            </a:r>
            <a:endParaRPr lang="en-US" sz="1500" dirty="0"/>
          </a:p>
          <a:p>
            <a:pPr marL="0" indent="0">
              <a:buNone/>
            </a:pPr>
            <a:r>
              <a:rPr lang="en-US" sz="1250" dirty="0">
                <a:solidFill>
                  <a:schemeClr val="tx2"/>
                </a:solidFill>
              </a:rPr>
              <a:t>The canvas draws the grid, the Xs, and the Os</a:t>
            </a:r>
            <a:endParaRPr lang="en-US" sz="1500" dirty="0"/>
          </a:p>
        </p:txBody>
      </p:sp>
      <p:sp>
        <p:nvSpPr>
          <p:cNvPr id="18" name="board"/>
          <p:cNvSpPr/>
          <p:nvPr/>
        </p:nvSpPr>
        <p:spPr>
          <a:xfrm>
            <a:off x="7507224" y="1005840"/>
            <a:ext cx="1179576" cy="1179576"/>
          </a:xfrm>
          <a:prstGeom prst="rect">
            <a:avLst/>
          </a:prstGeom>
          <a:solidFill>
            <a:srgbClr val="90DE90"/>
          </a:solidFill>
          <a:ln w="19050">
            <a:solidFill>
              <a:schemeClr val="tx1"/>
            </a:solidFill>
            <a:prstDash val="solid"/>
          </a:ln>
        </p:spPr>
        <p:txBody>
          <a:bodyPr/>
          <a:lstStyle/>
          <a:p>
            <a:endParaRPr lang="en-US"/>
          </a:p>
        </p:txBody>
      </p:sp>
      <p:sp>
        <p:nvSpPr>
          <p:cNvPr id="19" name="Shape 17"/>
          <p:cNvSpPr/>
          <p:nvPr/>
        </p:nvSpPr>
        <p:spPr>
          <a:xfrm>
            <a:off x="7900416" y="1005840"/>
            <a:ext cx="0" cy="1179576"/>
          </a:xfrm>
          <a:prstGeom prst="line">
            <a:avLst/>
          </a:prstGeom>
          <a:noFill/>
          <a:ln w="25400">
            <a:solidFill>
              <a:schemeClr val="tx1"/>
            </a:solidFill>
            <a:prstDash val="solid"/>
          </a:ln>
        </p:spPr>
        <p:txBody>
          <a:bodyPr/>
          <a:lstStyle/>
          <a:p>
            <a:endParaRPr lang="en-US"/>
          </a:p>
        </p:txBody>
      </p:sp>
      <p:sp>
        <p:nvSpPr>
          <p:cNvPr id="20" name="Shape 18"/>
          <p:cNvSpPr/>
          <p:nvPr/>
        </p:nvSpPr>
        <p:spPr>
          <a:xfrm>
            <a:off x="7507224" y="1399032"/>
            <a:ext cx="1179576" cy="0"/>
          </a:xfrm>
          <a:prstGeom prst="line">
            <a:avLst/>
          </a:prstGeom>
          <a:noFill/>
          <a:ln w="25400">
            <a:solidFill>
              <a:schemeClr val="tx1"/>
            </a:solidFill>
            <a:prstDash val="solid"/>
          </a:ln>
        </p:spPr>
        <p:txBody>
          <a:bodyPr/>
          <a:lstStyle/>
          <a:p>
            <a:endParaRPr lang="en-US"/>
          </a:p>
        </p:txBody>
      </p:sp>
      <p:sp>
        <p:nvSpPr>
          <p:cNvPr id="21" name="Shape 19"/>
          <p:cNvSpPr/>
          <p:nvPr/>
        </p:nvSpPr>
        <p:spPr>
          <a:xfrm>
            <a:off x="8293608" y="1005840"/>
            <a:ext cx="0" cy="1179576"/>
          </a:xfrm>
          <a:prstGeom prst="line">
            <a:avLst/>
          </a:prstGeom>
          <a:noFill/>
          <a:ln w="25400">
            <a:solidFill>
              <a:schemeClr val="tx1"/>
            </a:solidFill>
            <a:prstDash val="solid"/>
          </a:ln>
        </p:spPr>
        <p:txBody>
          <a:bodyPr/>
          <a:lstStyle/>
          <a:p>
            <a:endParaRPr lang="en-US"/>
          </a:p>
        </p:txBody>
      </p:sp>
      <p:sp>
        <p:nvSpPr>
          <p:cNvPr id="22" name="Shape 20"/>
          <p:cNvSpPr/>
          <p:nvPr/>
        </p:nvSpPr>
        <p:spPr>
          <a:xfrm>
            <a:off x="7507224" y="1792224"/>
            <a:ext cx="1179576" cy="0"/>
          </a:xfrm>
          <a:prstGeom prst="line">
            <a:avLst/>
          </a:prstGeom>
          <a:noFill/>
          <a:ln w="25400">
            <a:solidFill>
              <a:schemeClr val="tx1"/>
            </a:solidFill>
            <a:prstDash val="solid"/>
          </a:ln>
        </p:spPr>
        <p:txBody>
          <a:bodyPr/>
          <a:lstStyle/>
          <a:p>
            <a:endParaRPr lang="en-US"/>
          </a:p>
        </p:txBody>
      </p:sp>
      <p:sp>
        <p:nvSpPr>
          <p:cNvPr id="23" name="Text 21"/>
          <p:cNvSpPr txBox="1"/>
          <p:nvPr/>
        </p:nvSpPr>
        <p:spPr>
          <a:xfrm>
            <a:off x="7507224" y="1005840"/>
            <a:ext cx="393192" cy="393192"/>
          </a:xfrm>
          <a:prstGeom prst="rect">
            <a:avLst/>
          </a:prstGeom>
          <a:noFill/>
          <a:ln/>
        </p:spPr>
        <p:txBody>
          <a:bodyPr wrap="square" lIns="0" tIns="0" rIns="0" bIns="0" rtlCol="0" anchor="ctr"/>
          <a:lstStyle/>
          <a:p>
            <a:pPr marL="0" indent="0" algn="ctr">
              <a:buNone/>
            </a:pPr>
            <a:r>
              <a:rPr lang="en-US" sz="2000" b="1" dirty="0">
                <a:solidFill>
                  <a:schemeClr val="tx1"/>
                </a:solidFill>
              </a:rPr>
              <a:t>X</a:t>
            </a:r>
            <a:endParaRPr lang="en-US" sz="2000" dirty="0"/>
          </a:p>
        </p:txBody>
      </p:sp>
      <p:sp>
        <p:nvSpPr>
          <p:cNvPr id="24" name="Text 22"/>
          <p:cNvSpPr txBox="1"/>
          <p:nvPr/>
        </p:nvSpPr>
        <p:spPr>
          <a:xfrm>
            <a:off x="7900416" y="1005840"/>
            <a:ext cx="393192" cy="393192"/>
          </a:xfrm>
          <a:prstGeom prst="rect">
            <a:avLst/>
          </a:prstGeom>
          <a:noFill/>
          <a:ln/>
        </p:spPr>
        <p:txBody>
          <a:bodyPr wrap="square" lIns="0" tIns="0" rIns="0" bIns="0" rtlCol="0" anchor="ctr"/>
          <a:lstStyle/>
          <a:p>
            <a:pPr marL="0" indent="0" algn="ctr">
              <a:buNone/>
            </a:pPr>
            <a:r>
              <a:rPr lang="en-US" sz="2000" b="1" dirty="0">
                <a:solidFill>
                  <a:schemeClr val="tx1"/>
                </a:solidFill>
              </a:rPr>
              <a:t>O</a:t>
            </a:r>
            <a:endParaRPr lang="en-US" sz="2000" dirty="0"/>
          </a:p>
        </p:txBody>
      </p:sp>
      <p:sp>
        <p:nvSpPr>
          <p:cNvPr id="25" name="Text 23"/>
          <p:cNvSpPr txBox="1"/>
          <p:nvPr/>
        </p:nvSpPr>
        <p:spPr>
          <a:xfrm>
            <a:off x="7900416" y="1399032"/>
            <a:ext cx="393192" cy="393192"/>
          </a:xfrm>
          <a:prstGeom prst="rect">
            <a:avLst/>
          </a:prstGeom>
          <a:noFill/>
          <a:ln/>
        </p:spPr>
        <p:txBody>
          <a:bodyPr wrap="square" lIns="0" tIns="0" rIns="0" bIns="0" rtlCol="0" anchor="ctr"/>
          <a:lstStyle/>
          <a:p>
            <a:pPr marL="0" indent="0" algn="ctr">
              <a:buNone/>
            </a:pPr>
            <a:r>
              <a:rPr lang="en-US" sz="2000" b="1" dirty="0">
                <a:solidFill>
                  <a:schemeClr val="tx1"/>
                </a:solidFill>
              </a:rPr>
              <a:t>X</a:t>
            </a:r>
            <a:endParaRPr lang="en-US" sz="2000" dirty="0"/>
          </a:p>
        </p:txBody>
      </p:sp>
      <p:sp>
        <p:nvSpPr>
          <p:cNvPr id="26" name="Text 24"/>
          <p:cNvSpPr txBox="1"/>
          <p:nvPr/>
        </p:nvSpPr>
        <p:spPr>
          <a:xfrm>
            <a:off x="8293608" y="1399032"/>
            <a:ext cx="393192" cy="393192"/>
          </a:xfrm>
          <a:prstGeom prst="rect">
            <a:avLst/>
          </a:prstGeom>
          <a:noFill/>
          <a:ln/>
        </p:spPr>
        <p:txBody>
          <a:bodyPr wrap="square" lIns="0" tIns="0" rIns="0" bIns="0" rtlCol="0" anchor="ctr"/>
          <a:lstStyle/>
          <a:p>
            <a:pPr marL="0" indent="0" algn="ctr">
              <a:buNone/>
            </a:pPr>
            <a:r>
              <a:rPr lang="en-US" sz="2000" b="1" dirty="0">
                <a:solidFill>
                  <a:schemeClr val="tx1"/>
                </a:solidFill>
              </a:rPr>
              <a:t>O</a:t>
            </a:r>
            <a:endParaRPr lang="en-US" sz="2000" dirty="0"/>
          </a:p>
        </p:txBody>
      </p:sp>
      <p:sp>
        <p:nvSpPr>
          <p:cNvPr id="27" name="Text 25"/>
          <p:cNvSpPr txBox="1"/>
          <p:nvPr/>
        </p:nvSpPr>
        <p:spPr>
          <a:xfrm>
            <a:off x="8293608" y="1792224"/>
            <a:ext cx="393192" cy="393192"/>
          </a:xfrm>
          <a:prstGeom prst="rect">
            <a:avLst/>
          </a:prstGeom>
          <a:noFill/>
          <a:ln/>
        </p:spPr>
        <p:txBody>
          <a:bodyPr wrap="square" lIns="0" tIns="0" rIns="0" bIns="0" rtlCol="0" anchor="ctr"/>
          <a:lstStyle/>
          <a:p>
            <a:pPr marL="0" indent="0" algn="ctr">
              <a:buNone/>
            </a:pPr>
            <a:r>
              <a:rPr lang="en-US" sz="2000" b="1" dirty="0">
                <a:solidFill>
                  <a:schemeClr val="tx1"/>
                </a:solidFill>
              </a:rPr>
              <a:t>X</a:t>
            </a:r>
            <a:endParaRPr lang="en-US" sz="2000" dirty="0"/>
          </a:p>
        </p:txBody>
      </p:sp>
      <p:sp>
        <p:nvSpPr>
          <p:cNvPr id="28" name="Text 26"/>
          <p:cNvSpPr txBox="1"/>
          <p:nvPr/>
        </p:nvSpPr>
        <p:spPr>
          <a:xfrm>
            <a:off x="4434840" y="1005840"/>
            <a:ext cx="2926080" cy="1179576"/>
          </a:xfrm>
          <a:prstGeom prst="rect">
            <a:avLst/>
          </a:prstGeom>
          <a:noFill/>
          <a:ln/>
        </p:spPr>
        <p:txBody>
          <a:bodyPr wrap="square" lIns="0" tIns="0" rIns="0" bIns="0" rtlCol="0" anchor="ctr"/>
          <a:lstStyle/>
          <a:p>
            <a:pPr marL="0" indent="0">
              <a:buNone/>
            </a:pPr>
            <a:r>
              <a:rPr lang="en-US" sz="1300" b="1" dirty="0">
                <a:solidFill>
                  <a:schemeClr val="tx1"/>
                </a:solidFill>
              </a:rPr>
              <a:t>Problem 1: </a:t>
            </a:r>
            <a:r>
              <a:rPr lang="en-US" sz="1300" dirty="0">
                <a:solidFill>
                  <a:schemeClr val="tx1"/>
                </a:solidFill>
              </a:rPr>
              <a:t>two players click</a:t>
            </a:r>
            <a:endParaRPr lang="en-US" sz="1300" dirty="0"/>
          </a:p>
          <a:p>
            <a:pPr marL="0" indent="0">
              <a:buNone/>
            </a:pPr>
            <a:r>
              <a:rPr lang="en-US" sz="1300" b="1" dirty="0">
                <a:solidFill>
                  <a:schemeClr val="tx1"/>
                </a:solidFill>
              </a:rPr>
              <a:t>Problem 2: </a:t>
            </a:r>
            <a:r>
              <a:rPr lang="en-US" sz="1300" dirty="0">
                <a:solidFill>
                  <a:schemeClr val="tx1"/>
                </a:solidFill>
              </a:rPr>
              <a:t>computer plays O at random</a:t>
            </a:r>
            <a:endParaRPr lang="en-US" sz="1300" dirty="0"/>
          </a:p>
        </p:txBody>
      </p:sp>
      <p:sp>
        <p:nvSpPr>
          <p:cNvPr id="29" name="js2 window"/>
          <p:cNvSpPr/>
          <p:nvPr/>
        </p:nvSpPr>
        <p:spPr>
          <a:xfrm>
            <a:off x="4434840" y="2286000"/>
            <a:ext cx="4251960" cy="2377440"/>
          </a:xfrm>
          <a:prstGeom prst="roundRect">
            <a:avLst>
              <a:gd name="adj" fmla="val 3846"/>
            </a:avLst>
          </a:prstGeom>
          <a:solidFill>
            <a:srgbClr val="1E1E2E"/>
          </a:solidFill>
          <a:ln w="12700">
            <a:solidFill>
              <a:srgbClr val="1E1E2E"/>
            </a:solidFill>
            <a:prstDash val="solid"/>
          </a:ln>
          <a:effectLst>
            <a:outerShdw blurRad="76200" dist="25400" dir="5400000" algn="bl" rotWithShape="0">
              <a:srgbClr val="000000">
                <a:alpha val="25000"/>
              </a:srgbClr>
            </a:outerShdw>
          </a:effectLst>
        </p:spPr>
        <p:txBody>
          <a:bodyPr/>
          <a:lstStyle/>
          <a:p>
            <a:endParaRPr lang="en-US"/>
          </a:p>
        </p:txBody>
      </p:sp>
      <p:sp>
        <p:nvSpPr>
          <p:cNvPr id="30" name="Shape 28"/>
          <p:cNvSpPr/>
          <p:nvPr/>
        </p:nvSpPr>
        <p:spPr>
          <a:xfrm>
            <a:off x="4617720" y="2423160"/>
            <a:ext cx="109728" cy="109728"/>
          </a:xfrm>
          <a:prstGeom prst="ellipse">
            <a:avLst/>
          </a:prstGeom>
          <a:solidFill>
            <a:srgbClr val="FF5F56"/>
          </a:solidFill>
          <a:ln w="12700">
            <a:solidFill>
              <a:srgbClr val="FF5F56"/>
            </a:solidFill>
            <a:prstDash val="solid"/>
          </a:ln>
        </p:spPr>
        <p:txBody>
          <a:bodyPr/>
          <a:lstStyle/>
          <a:p>
            <a:endParaRPr lang="en-US"/>
          </a:p>
        </p:txBody>
      </p:sp>
      <p:sp>
        <p:nvSpPr>
          <p:cNvPr id="31" name="Shape 29"/>
          <p:cNvSpPr/>
          <p:nvPr/>
        </p:nvSpPr>
        <p:spPr>
          <a:xfrm>
            <a:off x="4800600" y="2423160"/>
            <a:ext cx="109728" cy="109728"/>
          </a:xfrm>
          <a:prstGeom prst="ellipse">
            <a:avLst/>
          </a:prstGeom>
          <a:solidFill>
            <a:srgbClr val="FFBD2E"/>
          </a:solidFill>
          <a:ln w="12700">
            <a:solidFill>
              <a:srgbClr val="FFBD2E"/>
            </a:solidFill>
            <a:prstDash val="solid"/>
          </a:ln>
        </p:spPr>
        <p:txBody>
          <a:bodyPr/>
          <a:lstStyle/>
          <a:p>
            <a:endParaRPr lang="en-US"/>
          </a:p>
        </p:txBody>
      </p:sp>
      <p:sp>
        <p:nvSpPr>
          <p:cNvPr id="32" name="Shape 30"/>
          <p:cNvSpPr/>
          <p:nvPr/>
        </p:nvSpPr>
        <p:spPr>
          <a:xfrm>
            <a:off x="4983480" y="2423160"/>
            <a:ext cx="109728" cy="109728"/>
          </a:xfrm>
          <a:prstGeom prst="ellipse">
            <a:avLst/>
          </a:prstGeom>
          <a:solidFill>
            <a:srgbClr val="27C93F"/>
          </a:solidFill>
          <a:ln w="12700">
            <a:solidFill>
              <a:srgbClr val="27C93F"/>
            </a:solidFill>
            <a:prstDash val="solid"/>
          </a:ln>
        </p:spPr>
        <p:txBody>
          <a:bodyPr/>
          <a:lstStyle/>
          <a:p>
            <a:endParaRPr lang="en-US"/>
          </a:p>
        </p:txBody>
      </p:sp>
      <p:sp>
        <p:nvSpPr>
          <p:cNvPr id="33" name="Text 31"/>
          <p:cNvSpPr txBox="1"/>
          <p:nvPr/>
        </p:nvSpPr>
        <p:spPr>
          <a:xfrm>
            <a:off x="5212080" y="2350008"/>
            <a:ext cx="3337560" cy="256032"/>
          </a:xfrm>
          <a:prstGeom prst="rect">
            <a:avLst/>
          </a:prstGeom>
          <a:noFill/>
          <a:ln/>
        </p:spPr>
        <p:txBody>
          <a:bodyPr wrap="square" lIns="0" tIns="0" rIns="0" bIns="0" rtlCol="0" anchor="ctr"/>
          <a:lstStyle/>
          <a:p>
            <a:pPr marL="0" indent="0">
              <a:buNone/>
            </a:pPr>
            <a:r>
              <a:rPr lang="en-US" sz="1000" dirty="0">
                <a:solidFill>
                  <a:srgbClr val="A6ADC8"/>
                </a:solidFill>
                <a:latin typeface="Courier New" pitchFamily="34" charset="0"/>
                <a:ea typeface="Courier New" pitchFamily="34" charset="-122"/>
                <a:cs typeface="Courier New" pitchFamily="34" charset="-120"/>
              </a:rPr>
              <a:t>Problem2/game.js: computerMove()</a:t>
            </a:r>
            <a:endParaRPr lang="en-US" sz="1000" dirty="0"/>
          </a:p>
        </p:txBody>
      </p:sp>
      <p:sp>
        <p:nvSpPr>
          <p:cNvPr id="34" name="js2 code"/>
          <p:cNvSpPr txBox="1"/>
          <p:nvPr/>
        </p:nvSpPr>
        <p:spPr>
          <a:xfrm>
            <a:off x="4617720" y="2670048"/>
            <a:ext cx="3931920" cy="1874520"/>
          </a:xfrm>
          <a:prstGeom prst="rect">
            <a:avLst/>
          </a:prstGeom>
          <a:noFill/>
          <a:ln/>
        </p:spPr>
        <p:txBody>
          <a:bodyPr wrap="square" lIns="0" tIns="0" rIns="0" bIns="0" rtlCol="0" anchor="t"/>
          <a:lstStyle/>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let openSquares = [];</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for (let i=0; i&lt;board.length; i++) {</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if (board[i] === "") {</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    openSquares.push(i); }</a:t>
            </a:r>
            <a:endParaRPr lang="en-US" sz="1250" dirty="0"/>
          </a:p>
          <a:p>
            <a:pPr marL="0" indent="0">
              <a:spcAft>
                <a:spcPts val="200"/>
              </a:spcAft>
              <a:buNone/>
            </a:pPr>
            <a:r>
              <a:rPr lang="en-US" sz="1250" dirty="0">
                <a:solidFill>
                  <a:srgbClr val="CBA6F7"/>
                </a:solidFill>
                <a:latin typeface="Courier New" pitchFamily="34" charset="0"/>
                <a:ea typeface="Courier New" pitchFamily="34" charset="-122"/>
                <a:cs typeface="Courier New" pitchFamily="34" charset="-120"/>
              </a:rPr>
              <a:t>}</a:t>
            </a:r>
            <a:endParaRPr lang="en-US" sz="1250" dirty="0"/>
          </a:p>
          <a:p>
            <a:pPr marL="0" indent="0">
              <a:spcAft>
                <a:spcPts val="200"/>
              </a:spcAft>
              <a:buNone/>
            </a:pPr>
            <a:r>
              <a:rPr lang="en-US" sz="1250" dirty="0">
                <a:solidFill>
                  <a:srgbClr val="A6E3A1"/>
                </a:solidFill>
                <a:latin typeface="Courier New" pitchFamily="34" charset="0"/>
                <a:ea typeface="Courier New" pitchFamily="34" charset="-122"/>
                <a:cs typeface="Courier New" pitchFamily="34" charset="-120"/>
              </a:rPr>
              <a:t>const randomNumber = Math.floor(</a:t>
            </a:r>
            <a:endParaRPr lang="en-US" sz="1250" dirty="0"/>
          </a:p>
          <a:p>
            <a:pPr marL="0" indent="0">
              <a:spcAft>
                <a:spcPts val="200"/>
              </a:spcAft>
              <a:buNone/>
            </a:pPr>
            <a:r>
              <a:rPr lang="en-US" sz="1250" dirty="0">
                <a:solidFill>
                  <a:srgbClr val="A6E3A1"/>
                </a:solidFill>
                <a:latin typeface="Courier New" pitchFamily="34" charset="0"/>
                <a:ea typeface="Courier New" pitchFamily="34" charset="-122"/>
                <a:cs typeface="Courier New" pitchFamily="34" charset="-120"/>
              </a:rPr>
              <a:t>    Math.random() * openSquares.length);</a:t>
            </a:r>
            <a:endParaRPr lang="en-US" sz="1250" dirty="0"/>
          </a:p>
          <a:p>
            <a:pPr marL="0" indent="0">
              <a:spcAft>
                <a:spcPts val="200"/>
              </a:spcAft>
              <a:buNone/>
            </a:pPr>
            <a:r>
              <a:rPr lang="en-US" sz="1250" dirty="0">
                <a:solidFill>
                  <a:srgbClr val="CDD6F4"/>
                </a:solidFill>
                <a:latin typeface="Courier New" pitchFamily="34" charset="0"/>
                <a:ea typeface="Courier New" pitchFamily="34" charset="-122"/>
                <a:cs typeface="Courier New" pitchFamily="34" charset="-120"/>
              </a:rPr>
              <a:t>board[openSquares[randomNumber]] = "O";</a:t>
            </a:r>
            <a:endParaRPr lang="en-US" sz="1250" dirty="0"/>
          </a:p>
        </p:txBody>
      </p:sp>
      <p:sp>
        <p:nvSpPr>
          <p:cNvPr id="3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bg1"/>
                </a:solidFill>
              </a:rPr>
              <a:t>Why You Should Hire Me</a:t>
            </a:r>
            <a:endParaRPr lang="en-US" sz="3400" dirty="0"/>
          </a:p>
        </p:txBody>
      </p:sp>
      <p:sp>
        <p:nvSpPr>
          <p:cNvPr id="3" name="why card 1"/>
          <p:cNvSpPr/>
          <p:nvPr/>
        </p:nvSpPr>
        <p:spPr>
          <a:xfrm>
            <a:off x="457200" y="1234440"/>
            <a:ext cx="3771900" cy="2606040"/>
          </a:xfrm>
          <a:prstGeom prst="roundRect">
            <a:avLst>
              <a:gd name="adj" fmla="val 4211"/>
            </a:avLst>
          </a:prstGeom>
          <a:solidFill>
            <a:schemeClr val="tx2"/>
          </a:solidFill>
          <a:ln w="12700">
            <a:solidFill>
              <a:schemeClr val="tx2"/>
            </a:solidFill>
            <a:prstDash val="solid"/>
          </a:ln>
        </p:spPr>
        <p:txBody>
          <a:bodyPr/>
          <a:lstStyle/>
          <a:p>
            <a:endParaRPr lang="en-US"/>
          </a:p>
        </p:txBody>
      </p:sp>
      <p:sp>
        <p:nvSpPr>
          <p:cNvPr id="4" name="Shape 2"/>
          <p:cNvSpPr/>
          <p:nvPr/>
        </p:nvSpPr>
        <p:spPr>
          <a:xfrm>
            <a:off x="685800" y="1463040"/>
            <a:ext cx="640080" cy="640080"/>
          </a:xfrm>
          <a:prstGeom prst="ellipse">
            <a:avLst/>
          </a:prstGeom>
          <a:solidFill>
            <a:srgbClr val="04AA6D"/>
          </a:solidFill>
          <a:ln w="12700">
            <a:solidFill>
              <a:srgbClr val="04AA6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50392" y="1627632"/>
            <a:ext cx="310896" cy="310896"/>
          </a:xfrm>
          <a:prstGeom prst="rect">
            <a:avLst/>
          </a:prstGeom>
        </p:spPr>
      </p:pic>
      <p:sp>
        <p:nvSpPr>
          <p:cNvPr id="6" name="Text 3"/>
          <p:cNvSpPr txBox="1"/>
          <p:nvPr/>
        </p:nvSpPr>
        <p:spPr>
          <a:xfrm>
            <a:off x="685800" y="2240280"/>
            <a:ext cx="2194560" cy="548640"/>
          </a:xfrm>
          <a:prstGeom prst="rect">
            <a:avLst/>
          </a:prstGeom>
          <a:noFill/>
          <a:ln/>
        </p:spPr>
        <p:txBody>
          <a:bodyPr wrap="square" lIns="0" tIns="0" rIns="0" bIns="0" rtlCol="0" anchor="t"/>
          <a:lstStyle/>
          <a:p>
            <a:pPr marL="0" indent="0">
              <a:buNone/>
            </a:pPr>
            <a:r>
              <a:rPr lang="en-US" sz="1600" b="1" dirty="0">
                <a:solidFill>
                  <a:schemeClr val="bg1"/>
                </a:solidFill>
              </a:rPr>
              <a:t>I can build the whole front end</a:t>
            </a:r>
            <a:endParaRPr lang="en-US" sz="1600" dirty="0"/>
          </a:p>
        </p:txBody>
      </p:sp>
      <p:sp>
        <p:nvSpPr>
          <p:cNvPr id="7" name="Text 4"/>
          <p:cNvSpPr txBox="1"/>
          <p:nvPr/>
        </p:nvSpPr>
        <p:spPr>
          <a:xfrm>
            <a:off x="685800" y="2788920"/>
            <a:ext cx="2240280" cy="960120"/>
          </a:xfrm>
          <a:prstGeom prst="rect">
            <a:avLst/>
          </a:prstGeom>
          <a:noFill/>
          <a:ln/>
        </p:spPr>
        <p:txBody>
          <a:bodyPr wrap="square" lIns="0" tIns="0" rIns="0" bIns="0" rtlCol="0" anchor="t"/>
          <a:lstStyle/>
          <a:p>
            <a:pPr marL="0" indent="0">
              <a:buNone/>
            </a:pPr>
            <a:r>
              <a:rPr lang="en-US" sz="1250" dirty="0">
                <a:solidFill>
                  <a:srgbClr val="CADCD4"/>
                </a:solidFill>
              </a:rPr>
              <a:t>Structure with HTML, style with CSS, and interaction with JavaScript, shown in Lab 3 and Project 3.</a:t>
            </a:r>
            <a:endParaRPr lang="en-US" sz="1250" dirty="0"/>
          </a:p>
        </p:txBody>
      </p:sp>
      <p:sp>
        <p:nvSpPr>
          <p:cNvPr id="8" name="why card 2"/>
          <p:cNvSpPr/>
          <p:nvPr/>
        </p:nvSpPr>
        <p:spPr>
          <a:xfrm>
            <a:off x="4686300" y="1211580"/>
            <a:ext cx="3771900" cy="2606040"/>
          </a:xfrm>
          <a:prstGeom prst="roundRect">
            <a:avLst>
              <a:gd name="adj" fmla="val 4211"/>
            </a:avLst>
          </a:prstGeom>
          <a:solidFill>
            <a:schemeClr val="tx2"/>
          </a:solidFill>
          <a:ln w="12700">
            <a:solidFill>
              <a:schemeClr val="tx2"/>
            </a:solidFill>
            <a:prstDash val="solid"/>
          </a:ln>
        </p:spPr>
        <p:txBody>
          <a:bodyPr/>
          <a:lstStyle/>
          <a:p>
            <a:endParaRPr lang="en-US"/>
          </a:p>
        </p:txBody>
      </p:sp>
      <p:sp>
        <p:nvSpPr>
          <p:cNvPr id="9" name="Shape 6"/>
          <p:cNvSpPr/>
          <p:nvPr/>
        </p:nvSpPr>
        <p:spPr>
          <a:xfrm>
            <a:off x="4719828" y="1376172"/>
            <a:ext cx="640080" cy="640080"/>
          </a:xfrm>
          <a:prstGeom prst="ellipse">
            <a:avLst/>
          </a:prstGeom>
          <a:solidFill>
            <a:srgbClr val="2965F1"/>
          </a:solidFill>
          <a:ln w="12700">
            <a:solidFill>
              <a:srgbClr val="2965F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884420" y="1533906"/>
            <a:ext cx="310896" cy="310896"/>
          </a:xfrm>
          <a:prstGeom prst="rect">
            <a:avLst/>
          </a:prstGeom>
        </p:spPr>
      </p:pic>
      <p:sp>
        <p:nvSpPr>
          <p:cNvPr id="11" name="Text 7"/>
          <p:cNvSpPr txBox="1"/>
          <p:nvPr/>
        </p:nvSpPr>
        <p:spPr>
          <a:xfrm>
            <a:off x="4884420" y="2217420"/>
            <a:ext cx="2194560" cy="548640"/>
          </a:xfrm>
          <a:prstGeom prst="rect">
            <a:avLst/>
          </a:prstGeom>
          <a:noFill/>
          <a:ln/>
        </p:spPr>
        <p:txBody>
          <a:bodyPr wrap="square" lIns="0" tIns="0" rIns="0" bIns="0" rtlCol="0" anchor="t"/>
          <a:lstStyle/>
          <a:p>
            <a:pPr marL="0" indent="0">
              <a:buNone/>
            </a:pPr>
            <a:r>
              <a:rPr lang="en-US" sz="1600" b="1" dirty="0">
                <a:solidFill>
                  <a:schemeClr val="bg1"/>
                </a:solidFill>
              </a:rPr>
              <a:t>I think about security</a:t>
            </a:r>
            <a:endParaRPr lang="en-US" sz="1600" dirty="0"/>
          </a:p>
        </p:txBody>
      </p:sp>
      <p:sp>
        <p:nvSpPr>
          <p:cNvPr id="12" name="Text 8"/>
          <p:cNvSpPr txBox="1"/>
          <p:nvPr/>
        </p:nvSpPr>
        <p:spPr>
          <a:xfrm>
            <a:off x="4884420" y="2647189"/>
            <a:ext cx="2240280" cy="960120"/>
          </a:xfrm>
          <a:prstGeom prst="rect">
            <a:avLst/>
          </a:prstGeom>
          <a:noFill/>
          <a:ln/>
        </p:spPr>
        <p:txBody>
          <a:bodyPr wrap="square" lIns="0" tIns="0" rIns="0" bIns="0" rtlCol="0" anchor="t"/>
          <a:lstStyle/>
          <a:p>
            <a:pPr marL="0" indent="0">
              <a:buNone/>
            </a:pPr>
            <a:r>
              <a:rPr lang="en-US" sz="1250" dirty="0">
                <a:solidFill>
                  <a:srgbClr val="CADCD4"/>
                </a:solidFill>
              </a:rPr>
              <a:t>I use type="password", rel="noopener" on outside links, and only let O go in open squares.</a:t>
            </a:r>
            <a:endParaRPr lang="en-US" sz="1250" dirty="0"/>
          </a:p>
        </p:txBody>
      </p:sp>
      <p:sp>
        <p:nvSpPr>
          <p:cNvPr id="18" name="Text 13"/>
          <p:cNvSpPr txBox="1"/>
          <p:nvPr/>
        </p:nvSpPr>
        <p:spPr>
          <a:xfrm>
            <a:off x="457200" y="4114800"/>
            <a:ext cx="8229600" cy="457200"/>
          </a:xfrm>
          <a:prstGeom prst="rect">
            <a:avLst/>
          </a:prstGeom>
          <a:noFill/>
          <a:ln/>
        </p:spPr>
        <p:txBody>
          <a:bodyPr wrap="square" lIns="0" tIns="0" rIns="0" bIns="0" rtlCol="0" anchor="ctr"/>
          <a:lstStyle/>
          <a:p>
            <a:pPr marL="0" indent="0">
              <a:buNone/>
            </a:pPr>
            <a:r>
              <a:rPr lang="en-US" sz="2200" b="1" dirty="0">
                <a:solidFill>
                  <a:schemeClr val="accent1"/>
                </a:solidFill>
              </a:rPr>
              <a:t>Thank you!</a:t>
            </a:r>
            <a:endParaRPr lang="en-US" sz="2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WebDev Midterm">
  <a:themeElements>
    <a:clrScheme name="WebDev Midterm">
      <a:dk1>
        <a:srgbClr val="1B2430"/>
      </a:dk1>
      <a:lt1>
        <a:srgbClr val="FFFFFF"/>
      </a:lt1>
      <a:dk2>
        <a:srgbClr val="2E3A48"/>
      </a:dk2>
      <a:lt2>
        <a:srgbClr val="EEF3F1"/>
      </a:lt2>
      <a:accent1>
        <a:srgbClr val="04AA6D"/>
      </a:accent1>
      <a:accent2>
        <a:srgbClr val="E44D26"/>
      </a:accent2>
      <a:accent3>
        <a:srgbClr val="2965F1"/>
      </a:accent3>
      <a:accent4>
        <a:srgbClr val="E8B400"/>
      </a:accent4>
      <a:accent5>
        <a:srgbClr val="058457"/>
      </a:accent5>
      <a:accent6>
        <a:srgbClr val="8A96A3"/>
      </a:accent6>
      <a:hlink>
        <a:srgbClr val="2965F1"/>
      </a:hlink>
      <a:folHlink>
        <a:srgbClr val="6D2E46"/>
      </a:folHlink>
    </a:clrScheme>
    <a:fontScheme name="WebDev Midter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1840</Words>
  <Application>Microsoft Office PowerPoint</Application>
  <PresentationFormat>On-screen Show (16:9)</PresentationFormat>
  <Paragraphs>168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Courier New</vt:lpstr>
      <vt:lpstr>WebDev Midterm</vt:lpstr>
      <vt:lpstr> </vt:lpstr>
      <vt:lpstr>How the Web Works</vt:lpstr>
      <vt:lpstr>HTML: The Structure</vt:lpstr>
      <vt:lpstr>CSS: The Style</vt:lpstr>
      <vt:lpstr>JavaScript: The Behavior</vt:lpstr>
      <vt:lpstr>Project 3: Tic-Tac-Toe</vt:lpstr>
      <vt:lpstr>Why You Should Hire 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WebDev Midterm Presentation</dc:title>
  <dc:subject>PptxGenJS Presentation</dc:subject>
  <dc:creator>Michael Leon</dc:creator>
  <cp:lastModifiedBy>Michael Leon</cp:lastModifiedBy>
  <cp:revision>2</cp:revision>
  <dcterms:created xsi:type="dcterms:W3CDTF">2026-10-22T00:51:34Z</dcterms:created>
  <dcterms:modified xsi:type="dcterms:W3CDTF">2026-10-22T01:02:19Z</dcterms:modified>
</cp:coreProperties>
</file>